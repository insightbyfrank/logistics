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61" r:id="rId5"/>
    <p:sldId id="263" r:id="rId6"/>
    <p:sldId id="260" r:id="rId7"/>
    <p:sldId id="264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24A"/>
    <a:srgbClr val="E8734A"/>
    <a:srgbClr val="AFC6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611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5BA98-999E-6E16-6EDD-F87AC792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79A3C-4873-FADB-69BB-3B6A8693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D0998-F0FB-AA17-1BC0-7E3B9F6F3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7A8E7-474C-8D91-1238-E69FCED96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5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9CFD-3A7F-5236-1DF5-9A86961B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259DF-816C-D01E-5B63-B668C20E1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CA3C0-5962-8EF4-83C8-B5399C2CC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12649-06C0-8FF1-DECF-8100D9F65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17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AD962-13D2-A5B2-BBC1-FC62F139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383E6-B447-BF74-F076-1BD733206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F4E7C-E362-750A-F284-58235FDAD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B11B8-E475-8E06-1777-6BC6D96E7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43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A152-0771-55C8-E249-B99CB55A9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5C30E-4341-4C6B-BB77-EE801C94A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D35AB-F436-9EDF-1460-57E50B534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E88C9-5661-D237-5A73-226FFF8F3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2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29DE5-6CA2-5D4E-BCBB-8EE9ABB45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2D9FD-3D04-FF4C-DCC5-555EBA2B9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C8C51-E9D9-FD5C-753E-3D561DF4B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F3AD2-D2D9-8853-8C1A-93ADC092C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53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8229600" cy="8229600"/>
          </a:xfrm>
          <a:prstGeom prst="ellipse">
            <a:avLst/>
          </a:prstGeom>
          <a:solidFill>
            <a:srgbClr val="1E4560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5943600"/>
            <a:ext cx="7315200" cy="7315200"/>
          </a:xfrm>
          <a:prstGeom prst="ellipse">
            <a:avLst/>
          </a:prstGeom>
          <a:solidFill>
            <a:srgbClr val="0D22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108960"/>
            <a:ext cx="1828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DATA ANALYTICS WITH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828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InsightByFrank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8732520" y="4709160"/>
            <a:ext cx="822960" cy="320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937760"/>
            <a:ext cx="1828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3E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Wireframes v2 — Sidebar Navigation &amp; Advanced KPI Cards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9052560"/>
            <a:ext cx="1828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100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1920 × 1080  ·  3 Pages  ·  5 Charts Each  ·  Palette: Cargo Blue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71900" y="5943600"/>
            <a:ext cx="2514600" cy="457200"/>
          </a:xfrm>
          <a:prstGeom prst="roundRect">
            <a:avLst>
              <a:gd name="adj" fmla="val 50000"/>
            </a:avLst>
          </a:prstGeom>
          <a:ln w="15875">
            <a:solidFill>
              <a:srgbClr val="E87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1900" y="5943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Sidebar Nav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15100" y="5943600"/>
            <a:ext cx="2514600" cy="457200"/>
          </a:xfrm>
          <a:prstGeom prst="roundRect">
            <a:avLst>
              <a:gd name="adj" fmla="val 50000"/>
            </a:avLst>
          </a:prstGeom>
          <a:ln w="15875">
            <a:solidFill>
              <a:srgbClr val="E87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5100" y="5943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High/Low Trend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58300" y="5943600"/>
            <a:ext cx="2514600" cy="457200"/>
          </a:xfrm>
          <a:prstGeom prst="roundRect">
            <a:avLst>
              <a:gd name="adj" fmla="val 50000"/>
            </a:avLst>
          </a:prstGeom>
          <a:ln w="15875">
            <a:solidFill>
              <a:srgbClr val="E87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8300" y="5943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+ Back Icons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001500" y="5943600"/>
            <a:ext cx="2514600" cy="457200"/>
          </a:xfrm>
          <a:prstGeom prst="roundRect">
            <a:avLst>
              <a:gd name="adj" fmla="val 50000"/>
            </a:avLst>
          </a:prstGeom>
          <a:ln w="15875">
            <a:solidFill>
              <a:srgbClr val="E87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01500" y="5943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Bullet-Style Bars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B1AE71B9-DF34-E0BD-B553-CF4C6DE67570}"/>
              </a:ext>
            </a:extLst>
          </p:cNvPr>
          <p:cNvGrpSpPr/>
          <p:nvPr/>
        </p:nvGrpSpPr>
        <p:grpSpPr>
          <a:xfrm>
            <a:off x="1297800" y="1158006"/>
            <a:ext cx="16779282" cy="2040689"/>
            <a:chOff x="1297800" y="1158006"/>
            <a:chExt cx="16779282" cy="2040689"/>
          </a:xfrm>
        </p:grpSpPr>
        <p:sp>
          <p:nvSpPr>
            <p:cNvPr id="25" name="Shape 23"/>
            <p:cNvSpPr/>
            <p:nvPr/>
          </p:nvSpPr>
          <p:spPr>
            <a:xfrm>
              <a:off x="1297800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42" name="Shape 40"/>
            <p:cNvSpPr/>
            <p:nvPr/>
          </p:nvSpPr>
          <p:spPr>
            <a:xfrm>
              <a:off x="4692887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59" name="Shape 57"/>
            <p:cNvSpPr/>
            <p:nvPr/>
          </p:nvSpPr>
          <p:spPr>
            <a:xfrm>
              <a:off x="8087974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76" name="Shape 74"/>
            <p:cNvSpPr/>
            <p:nvPr/>
          </p:nvSpPr>
          <p:spPr>
            <a:xfrm>
              <a:off x="11483061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95" name="Shape 93"/>
            <p:cNvSpPr/>
            <p:nvPr/>
          </p:nvSpPr>
          <p:spPr>
            <a:xfrm>
              <a:off x="14873082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89" name="Shape 23">
              <a:extLst>
                <a:ext uri="{FF2B5EF4-FFF2-40B4-BE49-F238E27FC236}">
                  <a16:creationId xmlns:a16="http://schemas.microsoft.com/office/drawing/2014/main" id="{0D0196E5-11BB-BBEB-B1AB-8BD2863BB9A3}"/>
                </a:ext>
              </a:extLst>
            </p:cNvPr>
            <p:cNvSpPr/>
            <p:nvPr/>
          </p:nvSpPr>
          <p:spPr>
            <a:xfrm>
              <a:off x="129780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0" name="Shape 23">
              <a:extLst>
                <a:ext uri="{FF2B5EF4-FFF2-40B4-BE49-F238E27FC236}">
                  <a16:creationId xmlns:a16="http://schemas.microsoft.com/office/drawing/2014/main" id="{B1879256-4687-C63C-A40A-B906432D62DC}"/>
                </a:ext>
              </a:extLst>
            </p:cNvPr>
            <p:cNvSpPr/>
            <p:nvPr/>
          </p:nvSpPr>
          <p:spPr>
            <a:xfrm>
              <a:off x="470093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1" name="Shape 23">
              <a:extLst>
                <a:ext uri="{FF2B5EF4-FFF2-40B4-BE49-F238E27FC236}">
                  <a16:creationId xmlns:a16="http://schemas.microsoft.com/office/drawing/2014/main" id="{36C82C9E-B8E0-1FBE-DA10-C27916C6650E}"/>
                </a:ext>
              </a:extLst>
            </p:cNvPr>
            <p:cNvSpPr/>
            <p:nvPr/>
          </p:nvSpPr>
          <p:spPr>
            <a:xfrm>
              <a:off x="810406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2" name="Shape 23">
              <a:extLst>
                <a:ext uri="{FF2B5EF4-FFF2-40B4-BE49-F238E27FC236}">
                  <a16:creationId xmlns:a16="http://schemas.microsoft.com/office/drawing/2014/main" id="{F5F41707-CBC9-4C0F-5E23-C0C64CAEAA91}"/>
                </a:ext>
              </a:extLst>
            </p:cNvPr>
            <p:cNvSpPr/>
            <p:nvPr/>
          </p:nvSpPr>
          <p:spPr>
            <a:xfrm>
              <a:off x="1150719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3" name="Shape 23">
              <a:extLst>
                <a:ext uri="{FF2B5EF4-FFF2-40B4-BE49-F238E27FC236}">
                  <a16:creationId xmlns:a16="http://schemas.microsoft.com/office/drawing/2014/main" id="{2C9D16A9-6FED-BE70-5ECF-059D164BFDE9}"/>
                </a:ext>
              </a:extLst>
            </p:cNvPr>
            <p:cNvSpPr/>
            <p:nvPr/>
          </p:nvSpPr>
          <p:spPr>
            <a:xfrm>
              <a:off x="14873082" y="2533726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6795007-8530-F745-8288-825925276B17}"/>
              </a:ext>
            </a:extLst>
          </p:cNvPr>
          <p:cNvGrpSpPr/>
          <p:nvPr/>
        </p:nvGrpSpPr>
        <p:grpSpPr>
          <a:xfrm>
            <a:off x="1263294" y="294204"/>
            <a:ext cx="10972800" cy="729924"/>
            <a:chOff x="1401318" y="242445"/>
            <a:chExt cx="10972800" cy="729924"/>
          </a:xfrm>
        </p:grpSpPr>
        <p:sp>
          <p:nvSpPr>
            <p:cNvPr id="5" name="Text 3"/>
            <p:cNvSpPr/>
            <p:nvPr/>
          </p:nvSpPr>
          <p:spPr>
            <a:xfrm>
              <a:off x="1401318" y="242445"/>
              <a:ext cx="10058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>
                      <a:lumMod val="75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Customer &amp; Order Performance</a:t>
              </a:r>
              <a:endParaRPr lang="en-US" sz="28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401318" y="698049"/>
              <a:ext cx="10972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tx2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well are we acquiring, satisfying, and getting paid by customers?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91B4462D-CD06-90C4-68DC-A7626DAA4258}"/>
              </a:ext>
            </a:extLst>
          </p:cNvPr>
          <p:cNvGrpSpPr/>
          <p:nvPr/>
        </p:nvGrpSpPr>
        <p:grpSpPr>
          <a:xfrm>
            <a:off x="113004" y="86264"/>
            <a:ext cx="1005840" cy="10119475"/>
            <a:chOff x="320040" y="103517"/>
            <a:chExt cx="1005840" cy="10119475"/>
          </a:xfrm>
        </p:grpSpPr>
        <p:sp>
          <p:nvSpPr>
            <p:cNvPr id="8" name="Shape 6"/>
            <p:cNvSpPr/>
            <p:nvPr/>
          </p:nvSpPr>
          <p:spPr>
            <a:xfrm>
              <a:off x="320040" y="103517"/>
              <a:ext cx="1005840" cy="10119475"/>
            </a:xfrm>
            <a:prstGeom prst="roundRect">
              <a:avLst>
                <a:gd name="adj" fmla="val 13551"/>
              </a:avLst>
            </a:prstGeom>
            <a:solidFill>
              <a:srgbClr val="14324A"/>
            </a:solidFill>
            <a:ln/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539496" y="4032504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E8734A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732252" y="4100535"/>
              <a:ext cx="181417" cy="181417"/>
            </a:xfrm>
            <a:prstGeom prst="ellipse">
              <a:avLst/>
            </a:prstGeom>
            <a:solidFill>
              <a:srgbClr val="14324A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52882" y="4315968"/>
              <a:ext cx="340157" cy="192756"/>
            </a:xfrm>
            <a:prstGeom prst="roundRect">
              <a:avLst>
                <a:gd name="adj" fmla="val 40000"/>
              </a:avLst>
            </a:prstGeom>
            <a:solidFill>
              <a:srgbClr val="14324A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539496" y="4837176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596189" y="5052609"/>
              <a:ext cx="283464" cy="158740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879653" y="5086624"/>
              <a:ext cx="136063" cy="124724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652882" y="5200010"/>
              <a:ext cx="79370" cy="79370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868314" y="5200010"/>
              <a:ext cx="79370" cy="79370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539496" y="5641848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624535" y="5755234"/>
              <a:ext cx="181417" cy="181417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839968" y="5755234"/>
              <a:ext cx="181417" cy="181417"/>
            </a:xfrm>
            <a:prstGeom prst="rect">
              <a:avLst/>
            </a:prstGeom>
            <a:ln w="25400">
              <a:solidFill>
                <a:srgbClr val="AFC6C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24535" y="5970666"/>
              <a:ext cx="181417" cy="181417"/>
            </a:xfrm>
            <a:prstGeom prst="rect">
              <a:avLst/>
            </a:prstGeom>
            <a:ln w="25400">
              <a:solidFill>
                <a:srgbClr val="AFC6C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839968" y="5970666"/>
              <a:ext cx="181417" cy="181417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640080" y="9326880"/>
              <a:ext cx="365760" cy="365760"/>
            </a:xfrm>
            <a:prstGeom prst="ellipse">
              <a:avLst/>
            </a:prstGeom>
            <a:ln w="19050">
              <a:solidFill>
                <a:srgbClr val="3A5E74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40080" y="93177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E8EA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?</a:t>
              </a:r>
              <a:endParaRPr lang="en-US" sz="1500" dirty="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FD3FE38F-538B-F38B-51B7-B464F303692C}"/>
              </a:ext>
            </a:extLst>
          </p:cNvPr>
          <p:cNvGrpSpPr/>
          <p:nvPr/>
        </p:nvGrpSpPr>
        <p:grpSpPr>
          <a:xfrm>
            <a:off x="4034021" y="1251264"/>
            <a:ext cx="365760" cy="365760"/>
            <a:chOff x="4233672" y="1545336"/>
            <a:chExt cx="365760" cy="365760"/>
          </a:xfrm>
        </p:grpSpPr>
        <p:sp>
          <p:nvSpPr>
            <p:cNvPr id="26" name="Shape 24"/>
            <p:cNvSpPr/>
            <p:nvPr/>
          </p:nvSpPr>
          <p:spPr>
            <a:xfrm>
              <a:off x="4233672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4233672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</a:t>
              </a:r>
              <a:endParaRPr lang="en-US" sz="1600" dirty="0"/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79CEC59-E457-6337-75DE-7B2F6F840352}"/>
              </a:ext>
            </a:extLst>
          </p:cNvPr>
          <p:cNvGrpSpPr/>
          <p:nvPr/>
        </p:nvGrpSpPr>
        <p:grpSpPr>
          <a:xfrm>
            <a:off x="7432657" y="1251264"/>
            <a:ext cx="365760" cy="365760"/>
            <a:chOff x="7507224" y="1545336"/>
            <a:chExt cx="365760" cy="365760"/>
          </a:xfrm>
        </p:grpSpPr>
        <p:sp>
          <p:nvSpPr>
            <p:cNvPr id="43" name="Shape 41"/>
            <p:cNvSpPr/>
            <p:nvPr/>
          </p:nvSpPr>
          <p:spPr>
            <a:xfrm>
              <a:off x="7507224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44" name="Text 42"/>
            <p:cNvSpPr/>
            <p:nvPr/>
          </p:nvSpPr>
          <p:spPr>
            <a:xfrm>
              <a:off x="7507224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</a:t>
              </a:r>
              <a:endParaRPr lang="en-US" sz="160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218D715-1541-76C0-1802-2AB1F4420AEF}"/>
              </a:ext>
            </a:extLst>
          </p:cNvPr>
          <p:cNvGrpSpPr/>
          <p:nvPr/>
        </p:nvGrpSpPr>
        <p:grpSpPr>
          <a:xfrm>
            <a:off x="10831293" y="1216758"/>
            <a:ext cx="365760" cy="365760"/>
            <a:chOff x="10780776" y="1545336"/>
            <a:chExt cx="365760" cy="365760"/>
          </a:xfrm>
        </p:grpSpPr>
        <p:sp>
          <p:nvSpPr>
            <p:cNvPr id="60" name="Shape 58"/>
            <p:cNvSpPr/>
            <p:nvPr/>
          </p:nvSpPr>
          <p:spPr>
            <a:xfrm>
              <a:off x="10780776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61" name="Shape 59"/>
            <p:cNvSpPr/>
            <p:nvPr/>
          </p:nvSpPr>
          <p:spPr>
            <a:xfrm>
              <a:off x="10872216" y="1636776"/>
              <a:ext cx="182880" cy="182880"/>
            </a:xfrm>
            <a:prstGeom prst="star5">
              <a:avLst/>
            </a:prstGeom>
            <a:solidFill>
              <a:srgbClr val="FFFFFF"/>
            </a:solidFill>
            <a:ln/>
          </p:spPr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8C10FE2-9E1E-ED7A-4D55-A639B1330144}"/>
              </a:ext>
            </a:extLst>
          </p:cNvPr>
          <p:cNvGrpSpPr/>
          <p:nvPr/>
        </p:nvGrpSpPr>
        <p:grpSpPr>
          <a:xfrm>
            <a:off x="14229929" y="1251264"/>
            <a:ext cx="365760" cy="365760"/>
            <a:chOff x="14054328" y="1545336"/>
            <a:chExt cx="365760" cy="365760"/>
          </a:xfrm>
        </p:grpSpPr>
        <p:sp>
          <p:nvSpPr>
            <p:cNvPr id="77" name="Shape 75"/>
            <p:cNvSpPr/>
            <p:nvPr/>
          </p:nvSpPr>
          <p:spPr>
            <a:xfrm>
              <a:off x="14054328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78" name="Shape 76"/>
            <p:cNvSpPr/>
            <p:nvPr/>
          </p:nvSpPr>
          <p:spPr>
            <a:xfrm>
              <a:off x="14134795" y="1625803"/>
              <a:ext cx="204826" cy="204826"/>
            </a:xfrm>
            <a:prstGeom prst="ellipse">
              <a:avLst/>
            </a:prstGeom>
            <a:ln w="30480">
              <a:solidFill>
                <a:srgbClr val="FFFFFF"/>
              </a:solidFill>
              <a:prstDash val="solid"/>
            </a:ln>
          </p:spPr>
        </p:sp>
        <p:sp>
          <p:nvSpPr>
            <p:cNvPr id="79" name="Shape 77"/>
            <p:cNvSpPr/>
            <p:nvPr/>
          </p:nvSpPr>
          <p:spPr>
            <a:xfrm>
              <a:off x="14232636" y="1666768"/>
              <a:ext cx="9144" cy="61448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  <p:sp>
          <p:nvSpPr>
            <p:cNvPr id="80" name="Shape 78"/>
            <p:cNvSpPr/>
            <p:nvPr/>
          </p:nvSpPr>
          <p:spPr>
            <a:xfrm>
              <a:off x="14237208" y="1723644"/>
              <a:ext cx="49158" cy="9144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2A904B9-9E2D-8ABC-E851-5A6D43085BF4}"/>
              </a:ext>
            </a:extLst>
          </p:cNvPr>
          <p:cNvGrpSpPr/>
          <p:nvPr/>
        </p:nvGrpSpPr>
        <p:grpSpPr>
          <a:xfrm>
            <a:off x="17628566" y="1251264"/>
            <a:ext cx="365760" cy="365760"/>
            <a:chOff x="17327880" y="1545336"/>
            <a:chExt cx="365760" cy="365760"/>
          </a:xfrm>
        </p:grpSpPr>
        <p:sp>
          <p:nvSpPr>
            <p:cNvPr id="96" name="Shape 94"/>
            <p:cNvSpPr/>
            <p:nvPr/>
          </p:nvSpPr>
          <p:spPr>
            <a:xfrm>
              <a:off x="17327880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97" name="Shape 95"/>
            <p:cNvSpPr/>
            <p:nvPr/>
          </p:nvSpPr>
          <p:spPr>
            <a:xfrm>
              <a:off x="17404690" y="1633118"/>
              <a:ext cx="212141" cy="182441"/>
            </a:xfrm>
            <a:prstGeom prst="triangle">
              <a:avLst/>
            </a:prstGeom>
            <a:solidFill>
              <a:srgbClr val="FFFFFF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17500153" y="1685788"/>
              <a:ext cx="21214" cy="63642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17500153" y="1766401"/>
              <a:ext cx="21214" cy="21214"/>
            </a:xfrm>
            <a:prstGeom prst="ellipse">
              <a:avLst/>
            </a:prstGeom>
            <a:solidFill>
              <a:srgbClr val="14324A"/>
            </a:solidFill>
            <a:ln/>
          </p:spPr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9C9030F-FFF9-6A50-F329-ADBA10B3FF3E}"/>
              </a:ext>
            </a:extLst>
          </p:cNvPr>
          <p:cNvGrpSpPr/>
          <p:nvPr/>
        </p:nvGrpSpPr>
        <p:grpSpPr>
          <a:xfrm>
            <a:off x="1297800" y="3389611"/>
            <a:ext cx="9204350" cy="3452287"/>
            <a:chOff x="1645920" y="3383280"/>
            <a:chExt cx="9204350" cy="3452287"/>
          </a:xfrm>
        </p:grpSpPr>
        <p:sp>
          <p:nvSpPr>
            <p:cNvPr id="114" name="Shape 112"/>
            <p:cNvSpPr/>
            <p:nvPr/>
          </p:nvSpPr>
          <p:spPr>
            <a:xfrm>
              <a:off x="1645920" y="3383280"/>
              <a:ext cx="8567755" cy="3452287"/>
            </a:xfrm>
            <a:prstGeom prst="roundRect">
              <a:avLst>
                <a:gd name="adj" fmla="val 2158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  <p:txBody>
            <a:bodyPr/>
            <a:lstStyle/>
            <a:p>
              <a:endParaRPr lang="en-GB" dirty="0"/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DF340A4D-A37B-BCA4-8D04-9A7F61B4FA1E}"/>
                </a:ext>
              </a:extLst>
            </p:cNvPr>
            <p:cNvGrpSpPr/>
            <p:nvPr/>
          </p:nvGrpSpPr>
          <p:grpSpPr>
            <a:xfrm>
              <a:off x="1828800" y="3547872"/>
              <a:ext cx="1463040" cy="292608"/>
              <a:chOff x="1828800" y="3547872"/>
              <a:chExt cx="1463040" cy="292608"/>
            </a:xfrm>
          </p:grpSpPr>
          <p:sp>
            <p:nvSpPr>
              <p:cNvPr id="115" name="Shape 113"/>
              <p:cNvSpPr/>
              <p:nvPr/>
            </p:nvSpPr>
            <p:spPr>
              <a:xfrm>
                <a:off x="1828800" y="3547872"/>
                <a:ext cx="1463040" cy="292608"/>
              </a:xfrm>
              <a:prstGeom prst="roundRect">
                <a:avLst>
                  <a:gd name="adj" fmla="val 50000"/>
                </a:avLst>
              </a:prstGeom>
              <a:solidFill>
                <a:srgbClr val="E4EFF1"/>
              </a:solidFill>
              <a:ln/>
            </p:spPr>
          </p:sp>
          <p:sp>
            <p:nvSpPr>
              <p:cNvPr id="116" name="Text 114"/>
              <p:cNvSpPr/>
              <p:nvPr/>
            </p:nvSpPr>
            <p:spPr>
              <a:xfrm>
                <a:off x="1828800" y="3547872"/>
                <a:ext cx="146304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b="1" kern="0" spc="100" dirty="0">
                    <a:solidFill>
                      <a:srgbClr val="1432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LINE</a:t>
                </a:r>
                <a:endParaRPr lang="en-US" sz="900" dirty="0"/>
              </a:p>
            </p:txBody>
          </p:sp>
        </p:grpSp>
        <p:sp>
          <p:nvSpPr>
            <p:cNvPr id="122" name="Text 120"/>
            <p:cNvSpPr/>
            <p:nvPr/>
          </p:nvSpPr>
          <p:spPr>
            <a:xfrm>
              <a:off x="1828800" y="3877056"/>
              <a:ext cx="902147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623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Value Trend Over Time</a:t>
              </a:r>
              <a:endParaRPr lang="en-US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ABB59733-C0F2-EFCE-08C0-944A6B8D89B9}"/>
              </a:ext>
            </a:extLst>
          </p:cNvPr>
          <p:cNvGrpSpPr/>
          <p:nvPr/>
        </p:nvGrpSpPr>
        <p:grpSpPr>
          <a:xfrm>
            <a:off x="10044510" y="3389611"/>
            <a:ext cx="8032571" cy="3452400"/>
            <a:chOff x="11234318" y="3383280"/>
            <a:chExt cx="6596482" cy="3452400"/>
          </a:xfrm>
        </p:grpSpPr>
        <p:sp>
          <p:nvSpPr>
            <p:cNvPr id="126" name="Shape 124"/>
            <p:cNvSpPr/>
            <p:nvPr/>
          </p:nvSpPr>
          <p:spPr>
            <a:xfrm>
              <a:off x="11234318" y="3383280"/>
              <a:ext cx="6596482" cy="3452400"/>
            </a:xfrm>
            <a:prstGeom prst="roundRect">
              <a:avLst>
                <a:gd name="adj" fmla="val 2441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27" name="Shape 125"/>
            <p:cNvSpPr/>
            <p:nvPr/>
          </p:nvSpPr>
          <p:spPr>
            <a:xfrm>
              <a:off x="11417198" y="3547872"/>
              <a:ext cx="1463040" cy="292608"/>
            </a:xfrm>
            <a:prstGeom prst="roundRect">
              <a:avLst>
                <a:gd name="adj" fmla="val 50000"/>
              </a:avLst>
            </a:prstGeom>
            <a:solidFill>
              <a:srgbClr val="E4EFF1"/>
            </a:solidFill>
            <a:ln/>
          </p:spPr>
        </p:sp>
        <p:sp>
          <p:nvSpPr>
            <p:cNvPr id="128" name="Text 126"/>
            <p:cNvSpPr/>
            <p:nvPr/>
          </p:nvSpPr>
          <p:spPr>
            <a:xfrm>
              <a:off x="11417198" y="3547872"/>
              <a:ext cx="14630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14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BULLET CHART</a:t>
              </a:r>
              <a:endParaRPr lang="en-US" sz="900" dirty="0"/>
            </a:p>
          </p:txBody>
        </p:sp>
        <p:sp>
          <p:nvSpPr>
            <p:cNvPr id="134" name="Text 132"/>
            <p:cNvSpPr/>
            <p:nvPr/>
          </p:nvSpPr>
          <p:spPr>
            <a:xfrm>
              <a:off x="11417198" y="3877056"/>
              <a:ext cx="623072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623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Orders by Market Segment vs Target</a:t>
              </a:r>
              <a:endParaRPr lang="en-US" dirty="0"/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315AE387-535E-4557-9AFA-6575C4CDC9A4}"/>
              </a:ext>
            </a:extLst>
          </p:cNvPr>
          <p:cNvGrpSpPr/>
          <p:nvPr/>
        </p:nvGrpSpPr>
        <p:grpSpPr>
          <a:xfrm>
            <a:off x="9509327" y="7032814"/>
            <a:ext cx="8567755" cy="3124800"/>
            <a:chOff x="11234318" y="4862534"/>
            <a:chExt cx="6596482" cy="3124800"/>
          </a:xfrm>
        </p:grpSpPr>
        <p:sp>
          <p:nvSpPr>
            <p:cNvPr id="137" name="Shape 135"/>
            <p:cNvSpPr/>
            <p:nvPr/>
          </p:nvSpPr>
          <p:spPr>
            <a:xfrm>
              <a:off x="11234318" y="4862534"/>
              <a:ext cx="6596482" cy="3124800"/>
            </a:xfrm>
            <a:prstGeom prst="roundRect">
              <a:avLst>
                <a:gd name="adj" fmla="val 1507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38" name="Shape 136"/>
            <p:cNvSpPr/>
            <p:nvPr/>
          </p:nvSpPr>
          <p:spPr>
            <a:xfrm>
              <a:off x="11417198" y="5027127"/>
              <a:ext cx="1463040" cy="292608"/>
            </a:xfrm>
            <a:prstGeom prst="roundRect">
              <a:avLst>
                <a:gd name="adj" fmla="val 50000"/>
              </a:avLst>
            </a:prstGeom>
            <a:solidFill>
              <a:srgbClr val="E4EFF1"/>
            </a:solidFill>
            <a:ln/>
          </p:spPr>
        </p:sp>
        <p:sp>
          <p:nvSpPr>
            <p:cNvPr id="139" name="Text 137"/>
            <p:cNvSpPr/>
            <p:nvPr/>
          </p:nvSpPr>
          <p:spPr>
            <a:xfrm>
              <a:off x="11417198" y="5027127"/>
              <a:ext cx="14630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14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SCATTER</a:t>
              </a:r>
              <a:endParaRPr lang="en-US" sz="900" dirty="0"/>
            </a:p>
          </p:txBody>
        </p:sp>
        <p:sp>
          <p:nvSpPr>
            <p:cNvPr id="145" name="Text 143"/>
            <p:cNvSpPr/>
            <p:nvPr/>
          </p:nvSpPr>
          <p:spPr>
            <a:xfrm>
              <a:off x="11417198" y="5356311"/>
              <a:ext cx="623072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623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Acquisition Cost vs Order Value</a:t>
              </a:r>
              <a:endParaRPr lang="en-US" dirty="0"/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56A5C3C-8C39-1C1C-9787-81287391076B}"/>
              </a:ext>
            </a:extLst>
          </p:cNvPr>
          <p:cNvGrpSpPr/>
          <p:nvPr/>
        </p:nvGrpSpPr>
        <p:grpSpPr>
          <a:xfrm>
            <a:off x="1356375" y="7032814"/>
            <a:ext cx="7915420" cy="3124800"/>
            <a:chOff x="11234318" y="6341791"/>
            <a:chExt cx="7915420" cy="3124800"/>
          </a:xfrm>
        </p:grpSpPr>
        <p:sp>
          <p:nvSpPr>
            <p:cNvPr id="148" name="Shape 146"/>
            <p:cNvSpPr/>
            <p:nvPr/>
          </p:nvSpPr>
          <p:spPr>
            <a:xfrm>
              <a:off x="11234318" y="6341791"/>
              <a:ext cx="7915420" cy="3124800"/>
            </a:xfrm>
            <a:prstGeom prst="roundRect">
              <a:avLst>
                <a:gd name="adj" fmla="val 2436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49" name="Shape 147"/>
            <p:cNvSpPr/>
            <p:nvPr/>
          </p:nvSpPr>
          <p:spPr>
            <a:xfrm>
              <a:off x="11433240" y="6506383"/>
              <a:ext cx="1463040" cy="292608"/>
            </a:xfrm>
            <a:prstGeom prst="roundRect">
              <a:avLst>
                <a:gd name="adj" fmla="val 50000"/>
              </a:avLst>
            </a:prstGeom>
            <a:solidFill>
              <a:srgbClr val="E4EFF1"/>
            </a:solidFill>
            <a:ln/>
          </p:spPr>
        </p:sp>
        <p:sp>
          <p:nvSpPr>
            <p:cNvPr id="150" name="Text 148"/>
            <p:cNvSpPr/>
            <p:nvPr/>
          </p:nvSpPr>
          <p:spPr>
            <a:xfrm>
              <a:off x="11417198" y="6506383"/>
              <a:ext cx="14630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14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COLUMN</a:t>
              </a:r>
              <a:endParaRPr lang="en-US" sz="900" dirty="0"/>
            </a:p>
          </p:txBody>
        </p:sp>
        <p:sp>
          <p:nvSpPr>
            <p:cNvPr id="156" name="Text 154"/>
            <p:cNvSpPr/>
            <p:nvPr/>
          </p:nvSpPr>
          <p:spPr>
            <a:xfrm>
              <a:off x="11417198" y="6835567"/>
              <a:ext cx="623072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623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Support Tickets by Segment</a:t>
              </a:r>
              <a:endParaRPr lang="en-US" dirty="0"/>
            </a:p>
          </p:txBody>
        </p:sp>
      </p:grpSp>
      <p:pic>
        <p:nvPicPr>
          <p:cNvPr id="209" name="Picture 208">
            <a:extLst>
              <a:ext uri="{FF2B5EF4-FFF2-40B4-BE49-F238E27FC236}">
                <a16:creationId xmlns:a16="http://schemas.microsoft.com/office/drawing/2014/main" id="{C7FF4432-E3BB-B8FF-CA9E-91020875AC1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68323" y="468403"/>
            <a:ext cx="425933" cy="4259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579DE-34CE-6E0B-0491-64A6D663E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C5CFE24-35CA-72DE-F05E-0536AB46200B}"/>
              </a:ext>
            </a:extLst>
          </p:cNvPr>
          <p:cNvGrpSpPr/>
          <p:nvPr/>
        </p:nvGrpSpPr>
        <p:grpSpPr>
          <a:xfrm>
            <a:off x="1297800" y="1158006"/>
            <a:ext cx="16779282" cy="2040689"/>
            <a:chOff x="1297800" y="1158006"/>
            <a:chExt cx="16779282" cy="2040689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BC09E6DB-54CB-56FA-A1BE-2FD9BD6FFEF7}"/>
                </a:ext>
              </a:extLst>
            </p:cNvPr>
            <p:cNvSpPr/>
            <p:nvPr/>
          </p:nvSpPr>
          <p:spPr>
            <a:xfrm>
              <a:off x="1297800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5CCF597D-1D37-4DAD-486F-2F18F86856C8}"/>
                </a:ext>
              </a:extLst>
            </p:cNvPr>
            <p:cNvSpPr/>
            <p:nvPr/>
          </p:nvSpPr>
          <p:spPr>
            <a:xfrm>
              <a:off x="4692887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25BBBAB6-7283-3474-2E28-66E869347D14}"/>
                </a:ext>
              </a:extLst>
            </p:cNvPr>
            <p:cNvSpPr/>
            <p:nvPr/>
          </p:nvSpPr>
          <p:spPr>
            <a:xfrm>
              <a:off x="8087974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76" name="Shape 74">
              <a:extLst>
                <a:ext uri="{FF2B5EF4-FFF2-40B4-BE49-F238E27FC236}">
                  <a16:creationId xmlns:a16="http://schemas.microsoft.com/office/drawing/2014/main" id="{3C597649-EDDD-2495-7414-AF844BE39013}"/>
                </a:ext>
              </a:extLst>
            </p:cNvPr>
            <p:cNvSpPr/>
            <p:nvPr/>
          </p:nvSpPr>
          <p:spPr>
            <a:xfrm>
              <a:off x="11483061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95" name="Shape 93">
              <a:extLst>
                <a:ext uri="{FF2B5EF4-FFF2-40B4-BE49-F238E27FC236}">
                  <a16:creationId xmlns:a16="http://schemas.microsoft.com/office/drawing/2014/main" id="{27DDAFAC-7956-5005-4CE7-FCB734595F18}"/>
                </a:ext>
              </a:extLst>
            </p:cNvPr>
            <p:cNvSpPr/>
            <p:nvPr/>
          </p:nvSpPr>
          <p:spPr>
            <a:xfrm>
              <a:off x="14873082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89" name="Shape 23">
              <a:extLst>
                <a:ext uri="{FF2B5EF4-FFF2-40B4-BE49-F238E27FC236}">
                  <a16:creationId xmlns:a16="http://schemas.microsoft.com/office/drawing/2014/main" id="{4DEB47F7-593C-9B73-8BD0-3CB0721034EB}"/>
                </a:ext>
              </a:extLst>
            </p:cNvPr>
            <p:cNvSpPr/>
            <p:nvPr/>
          </p:nvSpPr>
          <p:spPr>
            <a:xfrm>
              <a:off x="129780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0" name="Shape 23">
              <a:extLst>
                <a:ext uri="{FF2B5EF4-FFF2-40B4-BE49-F238E27FC236}">
                  <a16:creationId xmlns:a16="http://schemas.microsoft.com/office/drawing/2014/main" id="{E951C078-F089-2D3B-B690-A8B04C0F7775}"/>
                </a:ext>
              </a:extLst>
            </p:cNvPr>
            <p:cNvSpPr/>
            <p:nvPr/>
          </p:nvSpPr>
          <p:spPr>
            <a:xfrm>
              <a:off x="470093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1" name="Shape 23">
              <a:extLst>
                <a:ext uri="{FF2B5EF4-FFF2-40B4-BE49-F238E27FC236}">
                  <a16:creationId xmlns:a16="http://schemas.microsoft.com/office/drawing/2014/main" id="{C594A665-F070-8B8C-A1E0-9EB19A3779BA}"/>
                </a:ext>
              </a:extLst>
            </p:cNvPr>
            <p:cNvSpPr/>
            <p:nvPr/>
          </p:nvSpPr>
          <p:spPr>
            <a:xfrm>
              <a:off x="810406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2" name="Shape 23">
              <a:extLst>
                <a:ext uri="{FF2B5EF4-FFF2-40B4-BE49-F238E27FC236}">
                  <a16:creationId xmlns:a16="http://schemas.microsoft.com/office/drawing/2014/main" id="{D3A153B7-60B3-0102-6A70-920CD29DCA26}"/>
                </a:ext>
              </a:extLst>
            </p:cNvPr>
            <p:cNvSpPr/>
            <p:nvPr/>
          </p:nvSpPr>
          <p:spPr>
            <a:xfrm>
              <a:off x="1150719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3" name="Shape 23">
              <a:extLst>
                <a:ext uri="{FF2B5EF4-FFF2-40B4-BE49-F238E27FC236}">
                  <a16:creationId xmlns:a16="http://schemas.microsoft.com/office/drawing/2014/main" id="{C8F9DBC2-F5A7-4533-AC38-FF0A0EC143CD}"/>
                </a:ext>
              </a:extLst>
            </p:cNvPr>
            <p:cNvSpPr/>
            <p:nvPr/>
          </p:nvSpPr>
          <p:spPr>
            <a:xfrm>
              <a:off x="14873082" y="2533726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BA48B84-9CD9-4E45-9BCD-9A5FAA3A03A4}"/>
              </a:ext>
            </a:extLst>
          </p:cNvPr>
          <p:cNvGrpSpPr/>
          <p:nvPr/>
        </p:nvGrpSpPr>
        <p:grpSpPr>
          <a:xfrm>
            <a:off x="1263294" y="294204"/>
            <a:ext cx="10972800" cy="729924"/>
            <a:chOff x="1401318" y="242445"/>
            <a:chExt cx="10972800" cy="729924"/>
          </a:xfrm>
        </p:grpSpPr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71014993-2B10-BF22-8B83-F179277BBE4E}"/>
                </a:ext>
              </a:extLst>
            </p:cNvPr>
            <p:cNvSpPr/>
            <p:nvPr/>
          </p:nvSpPr>
          <p:spPr>
            <a:xfrm>
              <a:off x="1401318" y="242445"/>
              <a:ext cx="10058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>
                      <a:lumMod val="75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Customer &amp; Order Performance</a:t>
              </a:r>
              <a:endParaRPr lang="en-US" sz="28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D7610F7A-1F19-15BE-4495-FFEE2A002879}"/>
                </a:ext>
              </a:extLst>
            </p:cNvPr>
            <p:cNvSpPr/>
            <p:nvPr/>
          </p:nvSpPr>
          <p:spPr>
            <a:xfrm>
              <a:off x="1401318" y="698049"/>
              <a:ext cx="10972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tx2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well are we acquiring, satisfying, and getting paid by customers?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2CCE4A5-0351-419B-D3DD-4B295AE24C5C}"/>
              </a:ext>
            </a:extLst>
          </p:cNvPr>
          <p:cNvGrpSpPr/>
          <p:nvPr/>
        </p:nvGrpSpPr>
        <p:grpSpPr>
          <a:xfrm>
            <a:off x="113004" y="294204"/>
            <a:ext cx="1005840" cy="9911535"/>
            <a:chOff x="320040" y="311457"/>
            <a:chExt cx="1005840" cy="9911535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31539437-548F-5C78-827C-B3668383C8C4}"/>
                </a:ext>
              </a:extLst>
            </p:cNvPr>
            <p:cNvSpPr/>
            <p:nvPr/>
          </p:nvSpPr>
          <p:spPr>
            <a:xfrm>
              <a:off x="320040" y="311457"/>
              <a:ext cx="1005840" cy="9911535"/>
            </a:xfrm>
            <a:prstGeom prst="roundRect">
              <a:avLst>
                <a:gd name="adj" fmla="val 13551"/>
              </a:avLst>
            </a:prstGeom>
            <a:solidFill>
              <a:srgbClr val="14324A"/>
            </a:solidFill>
            <a:ln/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525CF36D-82B0-6E1A-4A5A-9B528F049E9D}"/>
                </a:ext>
              </a:extLst>
            </p:cNvPr>
            <p:cNvSpPr/>
            <p:nvPr/>
          </p:nvSpPr>
          <p:spPr>
            <a:xfrm>
              <a:off x="539496" y="4032504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E8734A"/>
            </a:solidFill>
            <a:ln/>
          </p:spPr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B5A9405C-E968-5A72-13B8-8BF1202D316F}"/>
                </a:ext>
              </a:extLst>
            </p:cNvPr>
            <p:cNvSpPr/>
            <p:nvPr/>
          </p:nvSpPr>
          <p:spPr>
            <a:xfrm>
              <a:off x="732252" y="4100535"/>
              <a:ext cx="181417" cy="181417"/>
            </a:xfrm>
            <a:prstGeom prst="ellipse">
              <a:avLst/>
            </a:prstGeom>
            <a:solidFill>
              <a:srgbClr val="14324A"/>
            </a:solidFill>
            <a:ln/>
          </p:spPr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9E7375FF-DD4A-B585-4112-14AD6314B1F0}"/>
                </a:ext>
              </a:extLst>
            </p:cNvPr>
            <p:cNvSpPr/>
            <p:nvPr/>
          </p:nvSpPr>
          <p:spPr>
            <a:xfrm>
              <a:off x="652882" y="4315968"/>
              <a:ext cx="340157" cy="192756"/>
            </a:xfrm>
            <a:prstGeom prst="roundRect">
              <a:avLst>
                <a:gd name="adj" fmla="val 40000"/>
              </a:avLst>
            </a:prstGeom>
            <a:solidFill>
              <a:srgbClr val="14324A"/>
            </a:solidFill>
            <a:ln/>
          </p:spPr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1CEB7B94-E60E-A5EE-D1CB-ECCC7C4407AA}"/>
                </a:ext>
              </a:extLst>
            </p:cNvPr>
            <p:cNvSpPr/>
            <p:nvPr/>
          </p:nvSpPr>
          <p:spPr>
            <a:xfrm>
              <a:off x="539496" y="4837176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5FBA83A7-9766-4EC6-7995-3B038B4D1402}"/>
                </a:ext>
              </a:extLst>
            </p:cNvPr>
            <p:cNvSpPr/>
            <p:nvPr/>
          </p:nvSpPr>
          <p:spPr>
            <a:xfrm>
              <a:off x="596189" y="5052609"/>
              <a:ext cx="283464" cy="158740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A6A1AFD3-AEA2-DFE3-C7A7-089F79CB11B0}"/>
                </a:ext>
              </a:extLst>
            </p:cNvPr>
            <p:cNvSpPr/>
            <p:nvPr/>
          </p:nvSpPr>
          <p:spPr>
            <a:xfrm>
              <a:off x="879653" y="5086624"/>
              <a:ext cx="136063" cy="124724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3A6BAB00-DBF6-2CB5-076C-42DC09A1C80F}"/>
                </a:ext>
              </a:extLst>
            </p:cNvPr>
            <p:cNvSpPr/>
            <p:nvPr/>
          </p:nvSpPr>
          <p:spPr>
            <a:xfrm>
              <a:off x="652882" y="5200010"/>
              <a:ext cx="79370" cy="79370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9E6C4ACE-E51A-72C1-F5A4-82D582B819AF}"/>
                </a:ext>
              </a:extLst>
            </p:cNvPr>
            <p:cNvSpPr/>
            <p:nvPr/>
          </p:nvSpPr>
          <p:spPr>
            <a:xfrm>
              <a:off x="868314" y="5200010"/>
              <a:ext cx="79370" cy="79370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B77F5394-48F3-2C92-B76D-F2C9722F36D2}"/>
                </a:ext>
              </a:extLst>
            </p:cNvPr>
            <p:cNvSpPr/>
            <p:nvPr/>
          </p:nvSpPr>
          <p:spPr>
            <a:xfrm>
              <a:off x="539496" y="5641848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49EAB006-A858-1440-E0C2-A8F31C2ECAE2}"/>
                </a:ext>
              </a:extLst>
            </p:cNvPr>
            <p:cNvSpPr/>
            <p:nvPr/>
          </p:nvSpPr>
          <p:spPr>
            <a:xfrm>
              <a:off x="624535" y="5755234"/>
              <a:ext cx="181417" cy="181417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BFCBBB0D-63EA-EFBA-5481-67CE24B25182}"/>
                </a:ext>
              </a:extLst>
            </p:cNvPr>
            <p:cNvSpPr/>
            <p:nvPr/>
          </p:nvSpPr>
          <p:spPr>
            <a:xfrm>
              <a:off x="839968" y="5755234"/>
              <a:ext cx="181417" cy="181417"/>
            </a:xfrm>
            <a:prstGeom prst="rect">
              <a:avLst/>
            </a:prstGeom>
            <a:ln w="25400">
              <a:solidFill>
                <a:srgbClr val="AFC6CE"/>
              </a:solidFill>
              <a:prstDash val="solid"/>
            </a:ln>
          </p:spPr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177104B0-EE89-5D7C-DFB9-B8FB286618BA}"/>
                </a:ext>
              </a:extLst>
            </p:cNvPr>
            <p:cNvSpPr/>
            <p:nvPr/>
          </p:nvSpPr>
          <p:spPr>
            <a:xfrm>
              <a:off x="624535" y="5970666"/>
              <a:ext cx="181417" cy="181417"/>
            </a:xfrm>
            <a:prstGeom prst="rect">
              <a:avLst/>
            </a:prstGeom>
            <a:ln w="25400">
              <a:solidFill>
                <a:srgbClr val="AFC6CE"/>
              </a:solidFill>
              <a:prstDash val="solid"/>
            </a:ln>
          </p:spPr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BA8403A6-A6EA-B909-2C76-23AF15A7B5EB}"/>
                </a:ext>
              </a:extLst>
            </p:cNvPr>
            <p:cNvSpPr/>
            <p:nvPr/>
          </p:nvSpPr>
          <p:spPr>
            <a:xfrm>
              <a:off x="839968" y="5970666"/>
              <a:ext cx="181417" cy="181417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7DFFF4B4-C51E-BF13-8D47-A4AD07561EA7}"/>
                </a:ext>
              </a:extLst>
            </p:cNvPr>
            <p:cNvSpPr/>
            <p:nvPr/>
          </p:nvSpPr>
          <p:spPr>
            <a:xfrm>
              <a:off x="640080" y="9326880"/>
              <a:ext cx="365760" cy="365760"/>
            </a:xfrm>
            <a:prstGeom prst="ellipse">
              <a:avLst/>
            </a:prstGeom>
            <a:ln w="19050">
              <a:solidFill>
                <a:srgbClr val="3A5E74"/>
              </a:solidFill>
              <a:prstDash val="solid"/>
            </a:ln>
          </p:spPr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34FDBD63-1D46-B4C8-0AE2-C47678E20F09}"/>
                </a:ext>
              </a:extLst>
            </p:cNvPr>
            <p:cNvSpPr/>
            <p:nvPr/>
          </p:nvSpPr>
          <p:spPr>
            <a:xfrm>
              <a:off x="640080" y="93177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E8EA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?</a:t>
              </a:r>
              <a:endParaRPr lang="en-US" sz="1500" dirty="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1001272-72AF-2EC8-DB53-37B3E61D9AEB}"/>
              </a:ext>
            </a:extLst>
          </p:cNvPr>
          <p:cNvGrpSpPr/>
          <p:nvPr/>
        </p:nvGrpSpPr>
        <p:grpSpPr>
          <a:xfrm>
            <a:off x="4034021" y="1251264"/>
            <a:ext cx="365760" cy="365760"/>
            <a:chOff x="4233672" y="1545336"/>
            <a:chExt cx="365760" cy="365760"/>
          </a:xfrm>
        </p:grpSpPr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224CE71A-7AB8-4774-BAA9-FA1DE27A340E}"/>
                </a:ext>
              </a:extLst>
            </p:cNvPr>
            <p:cNvSpPr/>
            <p:nvPr/>
          </p:nvSpPr>
          <p:spPr>
            <a:xfrm>
              <a:off x="4233672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22DBBE96-3DEB-4DF4-7C7D-389520F079D3}"/>
                </a:ext>
              </a:extLst>
            </p:cNvPr>
            <p:cNvSpPr/>
            <p:nvPr/>
          </p:nvSpPr>
          <p:spPr>
            <a:xfrm>
              <a:off x="4233672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</a:t>
              </a:r>
              <a:endParaRPr lang="en-US" sz="1600" dirty="0"/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B4EF2D1-B5D9-778B-39E4-4DDC46776ECF}"/>
              </a:ext>
            </a:extLst>
          </p:cNvPr>
          <p:cNvGrpSpPr/>
          <p:nvPr/>
        </p:nvGrpSpPr>
        <p:grpSpPr>
          <a:xfrm>
            <a:off x="7432657" y="1251264"/>
            <a:ext cx="365760" cy="365760"/>
            <a:chOff x="7507224" y="1545336"/>
            <a:chExt cx="365760" cy="365760"/>
          </a:xfrm>
        </p:grpSpPr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5BD0C3B4-CAAC-721B-5174-D5C4086DE6CB}"/>
                </a:ext>
              </a:extLst>
            </p:cNvPr>
            <p:cNvSpPr/>
            <p:nvPr/>
          </p:nvSpPr>
          <p:spPr>
            <a:xfrm>
              <a:off x="7507224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D4E66224-E6EF-752B-7AB5-0597D9BE0B92}"/>
                </a:ext>
              </a:extLst>
            </p:cNvPr>
            <p:cNvSpPr/>
            <p:nvPr/>
          </p:nvSpPr>
          <p:spPr>
            <a:xfrm>
              <a:off x="7507224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</a:t>
              </a:r>
              <a:endParaRPr lang="en-US" sz="160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64F9F98-48FD-E298-FFDF-96DF4E2B5045}"/>
              </a:ext>
            </a:extLst>
          </p:cNvPr>
          <p:cNvGrpSpPr/>
          <p:nvPr/>
        </p:nvGrpSpPr>
        <p:grpSpPr>
          <a:xfrm>
            <a:off x="10831293" y="1216758"/>
            <a:ext cx="365760" cy="365760"/>
            <a:chOff x="10780776" y="1545336"/>
            <a:chExt cx="365760" cy="365760"/>
          </a:xfrm>
        </p:grpSpPr>
        <p:sp>
          <p:nvSpPr>
            <p:cNvPr id="60" name="Shape 58">
              <a:extLst>
                <a:ext uri="{FF2B5EF4-FFF2-40B4-BE49-F238E27FC236}">
                  <a16:creationId xmlns:a16="http://schemas.microsoft.com/office/drawing/2014/main" id="{FE5A5EAE-255D-A0AF-D7C4-90FE61B4BCB6}"/>
                </a:ext>
              </a:extLst>
            </p:cNvPr>
            <p:cNvSpPr/>
            <p:nvPr/>
          </p:nvSpPr>
          <p:spPr>
            <a:xfrm>
              <a:off x="10780776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61" name="Shape 59">
              <a:extLst>
                <a:ext uri="{FF2B5EF4-FFF2-40B4-BE49-F238E27FC236}">
                  <a16:creationId xmlns:a16="http://schemas.microsoft.com/office/drawing/2014/main" id="{3387FF26-4038-C68D-003C-D8FD1C2D1DD9}"/>
                </a:ext>
              </a:extLst>
            </p:cNvPr>
            <p:cNvSpPr/>
            <p:nvPr/>
          </p:nvSpPr>
          <p:spPr>
            <a:xfrm>
              <a:off x="10872216" y="1636776"/>
              <a:ext cx="182880" cy="182880"/>
            </a:xfrm>
            <a:prstGeom prst="star5">
              <a:avLst/>
            </a:prstGeom>
            <a:solidFill>
              <a:srgbClr val="FFFFFF"/>
            </a:solidFill>
            <a:ln/>
          </p:spPr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93C0385-4A3B-83AE-2AD7-DFBD54D7D05B}"/>
              </a:ext>
            </a:extLst>
          </p:cNvPr>
          <p:cNvGrpSpPr/>
          <p:nvPr/>
        </p:nvGrpSpPr>
        <p:grpSpPr>
          <a:xfrm>
            <a:off x="14229929" y="1251264"/>
            <a:ext cx="365760" cy="365760"/>
            <a:chOff x="14054328" y="1545336"/>
            <a:chExt cx="365760" cy="365760"/>
          </a:xfrm>
        </p:grpSpPr>
        <p:sp>
          <p:nvSpPr>
            <p:cNvPr id="77" name="Shape 75">
              <a:extLst>
                <a:ext uri="{FF2B5EF4-FFF2-40B4-BE49-F238E27FC236}">
                  <a16:creationId xmlns:a16="http://schemas.microsoft.com/office/drawing/2014/main" id="{B0016FBB-8D6C-A92C-F6CB-1D24F648172C}"/>
                </a:ext>
              </a:extLst>
            </p:cNvPr>
            <p:cNvSpPr/>
            <p:nvPr/>
          </p:nvSpPr>
          <p:spPr>
            <a:xfrm>
              <a:off x="14054328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78" name="Shape 76">
              <a:extLst>
                <a:ext uri="{FF2B5EF4-FFF2-40B4-BE49-F238E27FC236}">
                  <a16:creationId xmlns:a16="http://schemas.microsoft.com/office/drawing/2014/main" id="{61B06BB8-534F-D666-C9B2-151EFD1E6B9F}"/>
                </a:ext>
              </a:extLst>
            </p:cNvPr>
            <p:cNvSpPr/>
            <p:nvPr/>
          </p:nvSpPr>
          <p:spPr>
            <a:xfrm>
              <a:off x="14134795" y="1625803"/>
              <a:ext cx="204826" cy="204826"/>
            </a:xfrm>
            <a:prstGeom prst="ellipse">
              <a:avLst/>
            </a:prstGeom>
            <a:ln w="30480">
              <a:solidFill>
                <a:srgbClr val="FFFFFF"/>
              </a:solidFill>
              <a:prstDash val="solid"/>
            </a:ln>
          </p:spPr>
        </p:sp>
        <p:sp>
          <p:nvSpPr>
            <p:cNvPr id="79" name="Shape 77">
              <a:extLst>
                <a:ext uri="{FF2B5EF4-FFF2-40B4-BE49-F238E27FC236}">
                  <a16:creationId xmlns:a16="http://schemas.microsoft.com/office/drawing/2014/main" id="{B7342FF3-089E-4AF8-38D1-C1E0F51AEA8C}"/>
                </a:ext>
              </a:extLst>
            </p:cNvPr>
            <p:cNvSpPr/>
            <p:nvPr/>
          </p:nvSpPr>
          <p:spPr>
            <a:xfrm>
              <a:off x="14232636" y="1666768"/>
              <a:ext cx="9144" cy="61448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  <p:sp>
          <p:nvSpPr>
            <p:cNvPr id="80" name="Shape 78">
              <a:extLst>
                <a:ext uri="{FF2B5EF4-FFF2-40B4-BE49-F238E27FC236}">
                  <a16:creationId xmlns:a16="http://schemas.microsoft.com/office/drawing/2014/main" id="{8965C909-A118-31DF-90C4-19346A9C648C}"/>
                </a:ext>
              </a:extLst>
            </p:cNvPr>
            <p:cNvSpPr/>
            <p:nvPr/>
          </p:nvSpPr>
          <p:spPr>
            <a:xfrm>
              <a:off x="14237208" y="1723644"/>
              <a:ext cx="49158" cy="9144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07938C4-9D9E-6BC0-15DB-C003FA028CFC}"/>
              </a:ext>
            </a:extLst>
          </p:cNvPr>
          <p:cNvGrpSpPr/>
          <p:nvPr/>
        </p:nvGrpSpPr>
        <p:grpSpPr>
          <a:xfrm>
            <a:off x="17628566" y="1251264"/>
            <a:ext cx="365760" cy="365760"/>
            <a:chOff x="17327880" y="1545336"/>
            <a:chExt cx="365760" cy="365760"/>
          </a:xfrm>
        </p:grpSpPr>
        <p:sp>
          <p:nvSpPr>
            <p:cNvPr id="96" name="Shape 94">
              <a:extLst>
                <a:ext uri="{FF2B5EF4-FFF2-40B4-BE49-F238E27FC236}">
                  <a16:creationId xmlns:a16="http://schemas.microsoft.com/office/drawing/2014/main" id="{4F492A16-2179-B04E-0C66-0F1C85E322A9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97" name="Shape 95">
              <a:extLst>
                <a:ext uri="{FF2B5EF4-FFF2-40B4-BE49-F238E27FC236}">
                  <a16:creationId xmlns:a16="http://schemas.microsoft.com/office/drawing/2014/main" id="{93D734C5-31DE-7843-5E31-800C6D170F9D}"/>
                </a:ext>
              </a:extLst>
            </p:cNvPr>
            <p:cNvSpPr/>
            <p:nvPr/>
          </p:nvSpPr>
          <p:spPr>
            <a:xfrm>
              <a:off x="17404690" y="1633118"/>
              <a:ext cx="212141" cy="182441"/>
            </a:xfrm>
            <a:prstGeom prst="triangle">
              <a:avLst/>
            </a:prstGeom>
            <a:solidFill>
              <a:srgbClr val="FFFFFF"/>
            </a:solidFill>
            <a:ln/>
          </p:spPr>
        </p:sp>
        <p:sp>
          <p:nvSpPr>
            <p:cNvPr id="98" name="Shape 96">
              <a:extLst>
                <a:ext uri="{FF2B5EF4-FFF2-40B4-BE49-F238E27FC236}">
                  <a16:creationId xmlns:a16="http://schemas.microsoft.com/office/drawing/2014/main" id="{3E71D4F2-94BF-D92B-5E1A-2C1DA9C7AB0F}"/>
                </a:ext>
              </a:extLst>
            </p:cNvPr>
            <p:cNvSpPr/>
            <p:nvPr/>
          </p:nvSpPr>
          <p:spPr>
            <a:xfrm>
              <a:off x="17500153" y="1685788"/>
              <a:ext cx="21214" cy="63642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99" name="Shape 97">
              <a:extLst>
                <a:ext uri="{FF2B5EF4-FFF2-40B4-BE49-F238E27FC236}">
                  <a16:creationId xmlns:a16="http://schemas.microsoft.com/office/drawing/2014/main" id="{E81B45E6-095D-EA0B-58AF-B22A2EB5C2E0}"/>
                </a:ext>
              </a:extLst>
            </p:cNvPr>
            <p:cNvSpPr/>
            <p:nvPr/>
          </p:nvSpPr>
          <p:spPr>
            <a:xfrm>
              <a:off x="17500153" y="1766401"/>
              <a:ext cx="21214" cy="21214"/>
            </a:xfrm>
            <a:prstGeom prst="ellipse">
              <a:avLst/>
            </a:prstGeom>
            <a:solidFill>
              <a:srgbClr val="14324A"/>
            </a:solidFill>
            <a:ln/>
          </p:spPr>
        </p:sp>
      </p:grpSp>
      <p:sp>
        <p:nvSpPr>
          <p:cNvPr id="114" name="Shape 112">
            <a:extLst>
              <a:ext uri="{FF2B5EF4-FFF2-40B4-BE49-F238E27FC236}">
                <a16:creationId xmlns:a16="http://schemas.microsoft.com/office/drawing/2014/main" id="{BA5E79F3-4614-156C-F226-E159A3BD9EFE}"/>
              </a:ext>
            </a:extLst>
          </p:cNvPr>
          <p:cNvSpPr/>
          <p:nvPr/>
        </p:nvSpPr>
        <p:spPr>
          <a:xfrm>
            <a:off x="1297800" y="3389611"/>
            <a:ext cx="8567755" cy="3452287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02EBD6BD-FDDC-E6EB-64C7-E69EBFFAF154}"/>
              </a:ext>
            </a:extLst>
          </p:cNvPr>
          <p:cNvSpPr/>
          <p:nvPr/>
        </p:nvSpPr>
        <p:spPr>
          <a:xfrm>
            <a:off x="1432552" y="3498379"/>
            <a:ext cx="90214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Trend vs  Previous</a:t>
            </a:r>
            <a:endParaRPr lang="en-US" dirty="0"/>
          </a:p>
        </p:txBody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B798D2F4-2160-237A-E19D-0A779B2B5822}"/>
              </a:ext>
            </a:extLst>
          </p:cNvPr>
          <p:cNvSpPr/>
          <p:nvPr/>
        </p:nvSpPr>
        <p:spPr>
          <a:xfrm>
            <a:off x="10044510" y="3389611"/>
            <a:ext cx="8032571" cy="3452400"/>
          </a:xfrm>
          <a:prstGeom prst="roundRect">
            <a:avLst>
              <a:gd name="adj" fmla="val 244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</p:sp>
      <p:sp>
        <p:nvSpPr>
          <p:cNvPr id="134" name="Text 132">
            <a:extLst>
              <a:ext uri="{FF2B5EF4-FFF2-40B4-BE49-F238E27FC236}">
                <a16:creationId xmlns:a16="http://schemas.microsoft.com/office/drawing/2014/main" id="{F499E9AA-96D3-51CC-8456-4176D3D9917E}"/>
              </a:ext>
            </a:extLst>
          </p:cNvPr>
          <p:cNvSpPr/>
          <p:nvPr/>
        </p:nvSpPr>
        <p:spPr>
          <a:xfrm>
            <a:off x="10207044" y="3498379"/>
            <a:ext cx="758718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Orders by Market Segment vs Total Acquisition</a:t>
            </a:r>
            <a:endParaRPr lang="en-US" dirty="0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05420901-6FBA-932F-A171-6B70AA0912D6}"/>
              </a:ext>
            </a:extLst>
          </p:cNvPr>
          <p:cNvSpPr/>
          <p:nvPr/>
        </p:nvSpPr>
        <p:spPr>
          <a:xfrm>
            <a:off x="9509327" y="7032814"/>
            <a:ext cx="8567755" cy="3124800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45" name="Text 143">
            <a:extLst>
              <a:ext uri="{FF2B5EF4-FFF2-40B4-BE49-F238E27FC236}">
                <a16:creationId xmlns:a16="http://schemas.microsoft.com/office/drawing/2014/main" id="{1ACA34DD-9CD2-139F-AA44-4B657699626A}"/>
              </a:ext>
            </a:extLst>
          </p:cNvPr>
          <p:cNvSpPr/>
          <p:nvPr/>
        </p:nvSpPr>
        <p:spPr>
          <a:xfrm>
            <a:off x="9662633" y="7177670"/>
            <a:ext cx="80926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 vs Order Value</a:t>
            </a:r>
            <a:endParaRPr lang="en-US" dirty="0"/>
          </a:p>
        </p:txBody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6008AB54-F447-B7C3-F6B0-7784AB7D4C7F}"/>
              </a:ext>
            </a:extLst>
          </p:cNvPr>
          <p:cNvSpPr/>
          <p:nvPr/>
        </p:nvSpPr>
        <p:spPr>
          <a:xfrm>
            <a:off x="1356375" y="7032814"/>
            <a:ext cx="7915420" cy="3124800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</p:sp>
      <p:sp>
        <p:nvSpPr>
          <p:cNvPr id="156" name="Text 154">
            <a:extLst>
              <a:ext uri="{FF2B5EF4-FFF2-40B4-BE49-F238E27FC236}">
                <a16:creationId xmlns:a16="http://schemas.microsoft.com/office/drawing/2014/main" id="{53A46F43-992E-0728-7B07-BC32B1E12B50}"/>
              </a:ext>
            </a:extLst>
          </p:cNvPr>
          <p:cNvSpPr/>
          <p:nvPr/>
        </p:nvSpPr>
        <p:spPr>
          <a:xfrm>
            <a:off x="1432552" y="7177670"/>
            <a:ext cx="62307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by Segment</a:t>
            </a:r>
            <a:endParaRPr lang="en-US" dirty="0"/>
          </a:p>
        </p:txBody>
      </p:sp>
      <p:pic>
        <p:nvPicPr>
          <p:cNvPr id="209" name="Picture 208">
            <a:extLst>
              <a:ext uri="{FF2B5EF4-FFF2-40B4-BE49-F238E27FC236}">
                <a16:creationId xmlns:a16="http://schemas.microsoft.com/office/drawing/2014/main" id="{E47AC1E1-474A-C97C-E7F1-580509F777A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68323" y="468403"/>
            <a:ext cx="425933" cy="4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17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FDAA77-2454-5784-9AB3-DE3EE953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1023C31-FF23-140D-80CC-D0D97C568389}"/>
              </a:ext>
            </a:extLst>
          </p:cNvPr>
          <p:cNvGrpSpPr/>
          <p:nvPr/>
        </p:nvGrpSpPr>
        <p:grpSpPr>
          <a:xfrm>
            <a:off x="1297800" y="1158006"/>
            <a:ext cx="16779282" cy="2040689"/>
            <a:chOff x="1297800" y="1158006"/>
            <a:chExt cx="16779282" cy="2040689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79047406-F467-C181-66F6-0124A82487B0}"/>
                </a:ext>
              </a:extLst>
            </p:cNvPr>
            <p:cNvSpPr/>
            <p:nvPr/>
          </p:nvSpPr>
          <p:spPr>
            <a:xfrm>
              <a:off x="1297800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8081C3F8-0EAA-A47E-7155-045B92859A14}"/>
                </a:ext>
              </a:extLst>
            </p:cNvPr>
            <p:cNvSpPr/>
            <p:nvPr/>
          </p:nvSpPr>
          <p:spPr>
            <a:xfrm>
              <a:off x="4692887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51A9B509-ADC8-F5AB-0F50-1485E4D1F516}"/>
                </a:ext>
              </a:extLst>
            </p:cNvPr>
            <p:cNvSpPr/>
            <p:nvPr/>
          </p:nvSpPr>
          <p:spPr>
            <a:xfrm>
              <a:off x="8087974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76" name="Shape 74">
              <a:extLst>
                <a:ext uri="{FF2B5EF4-FFF2-40B4-BE49-F238E27FC236}">
                  <a16:creationId xmlns:a16="http://schemas.microsoft.com/office/drawing/2014/main" id="{6B86332F-31A2-1769-65C7-CD7EB1CC2E50}"/>
                </a:ext>
              </a:extLst>
            </p:cNvPr>
            <p:cNvSpPr/>
            <p:nvPr/>
          </p:nvSpPr>
          <p:spPr>
            <a:xfrm>
              <a:off x="11483061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95" name="Shape 93">
              <a:extLst>
                <a:ext uri="{FF2B5EF4-FFF2-40B4-BE49-F238E27FC236}">
                  <a16:creationId xmlns:a16="http://schemas.microsoft.com/office/drawing/2014/main" id="{0734507F-B1CB-EBAE-0BDD-FDE2A8923B64}"/>
                </a:ext>
              </a:extLst>
            </p:cNvPr>
            <p:cNvSpPr/>
            <p:nvPr/>
          </p:nvSpPr>
          <p:spPr>
            <a:xfrm>
              <a:off x="14873082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89" name="Shape 23">
              <a:extLst>
                <a:ext uri="{FF2B5EF4-FFF2-40B4-BE49-F238E27FC236}">
                  <a16:creationId xmlns:a16="http://schemas.microsoft.com/office/drawing/2014/main" id="{A864CA9A-4D5F-0ABD-44BB-7905DB355545}"/>
                </a:ext>
              </a:extLst>
            </p:cNvPr>
            <p:cNvSpPr/>
            <p:nvPr/>
          </p:nvSpPr>
          <p:spPr>
            <a:xfrm>
              <a:off x="129780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0" name="Shape 23">
              <a:extLst>
                <a:ext uri="{FF2B5EF4-FFF2-40B4-BE49-F238E27FC236}">
                  <a16:creationId xmlns:a16="http://schemas.microsoft.com/office/drawing/2014/main" id="{391C20EE-3138-1E64-E48D-E72A408F2AF5}"/>
                </a:ext>
              </a:extLst>
            </p:cNvPr>
            <p:cNvSpPr/>
            <p:nvPr/>
          </p:nvSpPr>
          <p:spPr>
            <a:xfrm>
              <a:off x="470093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1" name="Shape 23">
              <a:extLst>
                <a:ext uri="{FF2B5EF4-FFF2-40B4-BE49-F238E27FC236}">
                  <a16:creationId xmlns:a16="http://schemas.microsoft.com/office/drawing/2014/main" id="{7CED645E-138C-D71B-B4B3-0D49BDDAE800}"/>
                </a:ext>
              </a:extLst>
            </p:cNvPr>
            <p:cNvSpPr/>
            <p:nvPr/>
          </p:nvSpPr>
          <p:spPr>
            <a:xfrm>
              <a:off x="810406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2" name="Shape 23">
              <a:extLst>
                <a:ext uri="{FF2B5EF4-FFF2-40B4-BE49-F238E27FC236}">
                  <a16:creationId xmlns:a16="http://schemas.microsoft.com/office/drawing/2014/main" id="{10F43383-804A-4F12-8903-F1736141F3D2}"/>
                </a:ext>
              </a:extLst>
            </p:cNvPr>
            <p:cNvSpPr/>
            <p:nvPr/>
          </p:nvSpPr>
          <p:spPr>
            <a:xfrm>
              <a:off x="1150719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3" name="Shape 23">
              <a:extLst>
                <a:ext uri="{FF2B5EF4-FFF2-40B4-BE49-F238E27FC236}">
                  <a16:creationId xmlns:a16="http://schemas.microsoft.com/office/drawing/2014/main" id="{A8D1CB86-C1F9-D6DE-D525-3616AEE0A219}"/>
                </a:ext>
              </a:extLst>
            </p:cNvPr>
            <p:cNvSpPr/>
            <p:nvPr/>
          </p:nvSpPr>
          <p:spPr>
            <a:xfrm>
              <a:off x="14873082" y="2533726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A879DBD-0184-357F-EE55-06CDAC85D4E5}"/>
              </a:ext>
            </a:extLst>
          </p:cNvPr>
          <p:cNvGrpSpPr/>
          <p:nvPr/>
        </p:nvGrpSpPr>
        <p:grpSpPr>
          <a:xfrm>
            <a:off x="113004" y="347472"/>
            <a:ext cx="1005840" cy="9858267"/>
            <a:chOff x="320040" y="103517"/>
            <a:chExt cx="1005840" cy="10119475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835E0CF9-E152-7EC2-3371-5A104FB6E610}"/>
                </a:ext>
              </a:extLst>
            </p:cNvPr>
            <p:cNvSpPr/>
            <p:nvPr/>
          </p:nvSpPr>
          <p:spPr>
            <a:xfrm>
              <a:off x="320040" y="103517"/>
              <a:ext cx="1005840" cy="10119475"/>
            </a:xfrm>
            <a:prstGeom prst="roundRect">
              <a:avLst>
                <a:gd name="adj" fmla="val 13551"/>
              </a:avLst>
            </a:prstGeom>
            <a:solidFill>
              <a:srgbClr val="14324A"/>
            </a:solidFill>
            <a:ln/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E172A09C-2A34-FB5F-B6B0-B6FA4E7261A8}"/>
                </a:ext>
              </a:extLst>
            </p:cNvPr>
            <p:cNvSpPr/>
            <p:nvPr/>
          </p:nvSpPr>
          <p:spPr>
            <a:xfrm>
              <a:off x="539496" y="4032504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7BF09499-66E3-D173-C0C2-C399381B77BE}"/>
                </a:ext>
              </a:extLst>
            </p:cNvPr>
            <p:cNvSpPr/>
            <p:nvPr/>
          </p:nvSpPr>
          <p:spPr>
            <a:xfrm>
              <a:off x="732252" y="4100535"/>
              <a:ext cx="181417" cy="181417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F362EF9C-0FF3-D5D9-5482-26CD6FE109FB}"/>
                </a:ext>
              </a:extLst>
            </p:cNvPr>
            <p:cNvSpPr/>
            <p:nvPr/>
          </p:nvSpPr>
          <p:spPr>
            <a:xfrm>
              <a:off x="652882" y="4315968"/>
              <a:ext cx="340157" cy="192756"/>
            </a:xfrm>
            <a:prstGeom prst="roundRect">
              <a:avLst>
                <a:gd name="adj" fmla="val 40000"/>
              </a:avLst>
            </a:prstGeom>
            <a:solidFill>
              <a:srgbClr val="AFC6CE"/>
            </a:solidFill>
            <a:ln/>
          </p:spPr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469079DF-16FA-2133-7CF5-CF6C00BAC921}"/>
                </a:ext>
              </a:extLst>
            </p:cNvPr>
            <p:cNvSpPr/>
            <p:nvPr/>
          </p:nvSpPr>
          <p:spPr>
            <a:xfrm>
              <a:off x="539496" y="4837176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E8734A"/>
            </a:solidFill>
            <a:ln/>
          </p:spPr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C6C063FD-5D8D-1BB4-E69C-567A45BB6B98}"/>
                </a:ext>
              </a:extLst>
            </p:cNvPr>
            <p:cNvSpPr/>
            <p:nvPr/>
          </p:nvSpPr>
          <p:spPr>
            <a:xfrm>
              <a:off x="596189" y="5052609"/>
              <a:ext cx="283464" cy="158740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9720E363-6589-088A-C0DF-516677AC7A26}"/>
                </a:ext>
              </a:extLst>
            </p:cNvPr>
            <p:cNvSpPr/>
            <p:nvPr/>
          </p:nvSpPr>
          <p:spPr>
            <a:xfrm>
              <a:off x="879653" y="5086624"/>
              <a:ext cx="136063" cy="124724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43CA75F-740F-A970-AF94-2DCBB4605A77}"/>
                </a:ext>
              </a:extLst>
            </p:cNvPr>
            <p:cNvSpPr/>
            <p:nvPr/>
          </p:nvSpPr>
          <p:spPr>
            <a:xfrm>
              <a:off x="652882" y="5200010"/>
              <a:ext cx="79370" cy="79370"/>
            </a:xfrm>
            <a:prstGeom prst="ellipse">
              <a:avLst/>
            </a:prstGeom>
            <a:solidFill>
              <a:srgbClr val="14324A"/>
            </a:solidFill>
            <a:ln/>
          </p:spPr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2DB60B54-C4A5-4862-7095-CC8D40F76717}"/>
                </a:ext>
              </a:extLst>
            </p:cNvPr>
            <p:cNvSpPr/>
            <p:nvPr/>
          </p:nvSpPr>
          <p:spPr>
            <a:xfrm>
              <a:off x="868314" y="5200010"/>
              <a:ext cx="79370" cy="79370"/>
            </a:xfrm>
            <a:prstGeom prst="ellipse">
              <a:avLst/>
            </a:prstGeom>
            <a:solidFill>
              <a:srgbClr val="14324A"/>
            </a:solidFill>
            <a:ln/>
          </p:spPr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5B66E35E-EB8B-17EB-D5D3-1B2D99D07CC3}"/>
                </a:ext>
              </a:extLst>
            </p:cNvPr>
            <p:cNvSpPr/>
            <p:nvPr/>
          </p:nvSpPr>
          <p:spPr>
            <a:xfrm>
              <a:off x="539496" y="5641848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34637DC7-5309-388A-F6C3-B6475540F550}"/>
                </a:ext>
              </a:extLst>
            </p:cNvPr>
            <p:cNvSpPr/>
            <p:nvPr/>
          </p:nvSpPr>
          <p:spPr>
            <a:xfrm>
              <a:off x="624535" y="5755234"/>
              <a:ext cx="181417" cy="181417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E1A15A9C-CD43-B8CC-B024-4E7C3013D597}"/>
                </a:ext>
              </a:extLst>
            </p:cNvPr>
            <p:cNvSpPr/>
            <p:nvPr/>
          </p:nvSpPr>
          <p:spPr>
            <a:xfrm>
              <a:off x="839968" y="5755234"/>
              <a:ext cx="181417" cy="181417"/>
            </a:xfrm>
            <a:prstGeom prst="rect">
              <a:avLst/>
            </a:prstGeom>
            <a:ln w="25400">
              <a:solidFill>
                <a:srgbClr val="AFC6CE"/>
              </a:solidFill>
              <a:prstDash val="solid"/>
            </a:ln>
          </p:spPr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4CAAB744-7CF0-D020-A590-8CBCCCD04D1F}"/>
                </a:ext>
              </a:extLst>
            </p:cNvPr>
            <p:cNvSpPr/>
            <p:nvPr/>
          </p:nvSpPr>
          <p:spPr>
            <a:xfrm>
              <a:off x="624535" y="5970666"/>
              <a:ext cx="181417" cy="181417"/>
            </a:xfrm>
            <a:prstGeom prst="rect">
              <a:avLst/>
            </a:prstGeom>
            <a:ln w="25400">
              <a:solidFill>
                <a:srgbClr val="AFC6CE"/>
              </a:solidFill>
              <a:prstDash val="solid"/>
            </a:ln>
          </p:spPr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C0D05E90-C4CF-7F5C-F78F-D47C0DD4D153}"/>
                </a:ext>
              </a:extLst>
            </p:cNvPr>
            <p:cNvSpPr/>
            <p:nvPr/>
          </p:nvSpPr>
          <p:spPr>
            <a:xfrm>
              <a:off x="839968" y="5970666"/>
              <a:ext cx="181417" cy="181417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718CD2D8-60CD-80C8-FEBB-BB6EC0E54C60}"/>
                </a:ext>
              </a:extLst>
            </p:cNvPr>
            <p:cNvSpPr/>
            <p:nvPr/>
          </p:nvSpPr>
          <p:spPr>
            <a:xfrm>
              <a:off x="640080" y="9326880"/>
              <a:ext cx="365760" cy="365760"/>
            </a:xfrm>
            <a:prstGeom prst="ellipse">
              <a:avLst/>
            </a:prstGeom>
            <a:ln w="19050">
              <a:solidFill>
                <a:srgbClr val="3A5E74"/>
              </a:solidFill>
              <a:prstDash val="solid"/>
            </a:ln>
          </p:spPr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87C95510-C3D3-F38E-D32E-035A9194A15C}"/>
                </a:ext>
              </a:extLst>
            </p:cNvPr>
            <p:cNvSpPr/>
            <p:nvPr/>
          </p:nvSpPr>
          <p:spPr>
            <a:xfrm>
              <a:off x="640080" y="93177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E8EA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?</a:t>
              </a:r>
              <a:endParaRPr lang="en-US" sz="1500" dirty="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20BCA7C-E1C1-644D-9118-431E885049C7}"/>
              </a:ext>
            </a:extLst>
          </p:cNvPr>
          <p:cNvGrpSpPr/>
          <p:nvPr/>
        </p:nvGrpSpPr>
        <p:grpSpPr>
          <a:xfrm>
            <a:off x="1297801" y="3389611"/>
            <a:ext cx="9204349" cy="3452287"/>
            <a:chOff x="1645921" y="3383280"/>
            <a:chExt cx="9204349" cy="3452287"/>
          </a:xfrm>
        </p:grpSpPr>
        <p:sp>
          <p:nvSpPr>
            <p:cNvPr id="114" name="Shape 112">
              <a:extLst>
                <a:ext uri="{FF2B5EF4-FFF2-40B4-BE49-F238E27FC236}">
                  <a16:creationId xmlns:a16="http://schemas.microsoft.com/office/drawing/2014/main" id="{2C2A8D5B-F39D-76F8-4F22-EE9E4D94B03F}"/>
                </a:ext>
              </a:extLst>
            </p:cNvPr>
            <p:cNvSpPr/>
            <p:nvPr/>
          </p:nvSpPr>
          <p:spPr>
            <a:xfrm>
              <a:off x="1645921" y="3383280"/>
              <a:ext cx="8074710" cy="3452287"/>
            </a:xfrm>
            <a:prstGeom prst="roundRect">
              <a:avLst>
                <a:gd name="adj" fmla="val 2158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  <p:txBody>
            <a:bodyPr/>
            <a:lstStyle/>
            <a:p>
              <a:endParaRPr lang="en-GB" dirty="0"/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B7514E4D-54A8-861D-6E41-0F231D29C895}"/>
                </a:ext>
              </a:extLst>
            </p:cNvPr>
            <p:cNvGrpSpPr/>
            <p:nvPr/>
          </p:nvGrpSpPr>
          <p:grpSpPr>
            <a:xfrm>
              <a:off x="1828800" y="3547872"/>
              <a:ext cx="1463040" cy="292608"/>
              <a:chOff x="1828800" y="3547872"/>
              <a:chExt cx="1463040" cy="292608"/>
            </a:xfrm>
          </p:grpSpPr>
          <p:sp>
            <p:nvSpPr>
              <p:cNvPr id="115" name="Shape 113">
                <a:extLst>
                  <a:ext uri="{FF2B5EF4-FFF2-40B4-BE49-F238E27FC236}">
                    <a16:creationId xmlns:a16="http://schemas.microsoft.com/office/drawing/2014/main" id="{4F817E08-AA99-5F3D-2DC3-761CBC9B6226}"/>
                  </a:ext>
                </a:extLst>
              </p:cNvPr>
              <p:cNvSpPr/>
              <p:nvPr/>
            </p:nvSpPr>
            <p:spPr>
              <a:xfrm>
                <a:off x="1828800" y="3547872"/>
                <a:ext cx="1463040" cy="292608"/>
              </a:xfrm>
              <a:prstGeom prst="roundRect">
                <a:avLst>
                  <a:gd name="adj" fmla="val 50000"/>
                </a:avLst>
              </a:prstGeom>
              <a:solidFill>
                <a:srgbClr val="E4EFF1"/>
              </a:solidFill>
              <a:ln/>
            </p:spPr>
          </p:sp>
          <p:sp>
            <p:nvSpPr>
              <p:cNvPr id="116" name="Text 114">
                <a:extLst>
                  <a:ext uri="{FF2B5EF4-FFF2-40B4-BE49-F238E27FC236}">
                    <a16:creationId xmlns:a16="http://schemas.microsoft.com/office/drawing/2014/main" id="{A87BAE1C-6185-A261-4798-AEBE2AF431BD}"/>
                  </a:ext>
                </a:extLst>
              </p:cNvPr>
              <p:cNvSpPr/>
              <p:nvPr/>
            </p:nvSpPr>
            <p:spPr>
              <a:xfrm>
                <a:off x="1828800" y="3547872"/>
                <a:ext cx="146304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b="1" kern="0" spc="100" dirty="0">
                    <a:solidFill>
                      <a:srgbClr val="1432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LINE</a:t>
                </a:r>
                <a:endParaRPr lang="en-US" sz="900" dirty="0"/>
              </a:p>
            </p:txBody>
          </p:sp>
        </p:grpSp>
        <p:sp>
          <p:nvSpPr>
            <p:cNvPr id="122" name="Text 120">
              <a:extLst>
                <a:ext uri="{FF2B5EF4-FFF2-40B4-BE49-F238E27FC236}">
                  <a16:creationId xmlns:a16="http://schemas.microsoft.com/office/drawing/2014/main" id="{8E0799BC-F482-17D1-B380-C4AE42491D5F}"/>
                </a:ext>
              </a:extLst>
            </p:cNvPr>
            <p:cNvSpPr/>
            <p:nvPr/>
          </p:nvSpPr>
          <p:spPr>
            <a:xfrm>
              <a:off x="1828800" y="3877056"/>
              <a:ext cx="902147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GB" b="1" dirty="0"/>
                <a:t>Shipment Value Trend Over Time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90F3C757-783C-1718-B68B-6F44F63BEEE7}"/>
              </a:ext>
            </a:extLst>
          </p:cNvPr>
          <p:cNvGrpSpPr/>
          <p:nvPr/>
        </p:nvGrpSpPr>
        <p:grpSpPr>
          <a:xfrm>
            <a:off x="9551468" y="3389611"/>
            <a:ext cx="8525613" cy="3452400"/>
            <a:chOff x="11234318" y="3383280"/>
            <a:chExt cx="6596482" cy="3452400"/>
          </a:xfrm>
        </p:grpSpPr>
        <p:sp>
          <p:nvSpPr>
            <p:cNvPr id="126" name="Shape 124">
              <a:extLst>
                <a:ext uri="{FF2B5EF4-FFF2-40B4-BE49-F238E27FC236}">
                  <a16:creationId xmlns:a16="http://schemas.microsoft.com/office/drawing/2014/main" id="{0349C4A5-4372-B8D6-62F1-F41C1FCD0406}"/>
                </a:ext>
              </a:extLst>
            </p:cNvPr>
            <p:cNvSpPr/>
            <p:nvPr/>
          </p:nvSpPr>
          <p:spPr>
            <a:xfrm>
              <a:off x="11234318" y="3383280"/>
              <a:ext cx="6596482" cy="3452400"/>
            </a:xfrm>
            <a:prstGeom prst="roundRect">
              <a:avLst>
                <a:gd name="adj" fmla="val 2441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27" name="Shape 125">
              <a:extLst>
                <a:ext uri="{FF2B5EF4-FFF2-40B4-BE49-F238E27FC236}">
                  <a16:creationId xmlns:a16="http://schemas.microsoft.com/office/drawing/2014/main" id="{35485907-ECE9-E8B5-4822-E17350BBE101}"/>
                </a:ext>
              </a:extLst>
            </p:cNvPr>
            <p:cNvSpPr/>
            <p:nvPr/>
          </p:nvSpPr>
          <p:spPr>
            <a:xfrm>
              <a:off x="11417198" y="3547872"/>
              <a:ext cx="1463040" cy="292608"/>
            </a:xfrm>
            <a:prstGeom prst="roundRect">
              <a:avLst>
                <a:gd name="adj" fmla="val 50000"/>
              </a:avLst>
            </a:prstGeom>
            <a:solidFill>
              <a:srgbClr val="E4EFF1"/>
            </a:solidFill>
            <a:ln/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28" name="Text 126">
              <a:extLst>
                <a:ext uri="{FF2B5EF4-FFF2-40B4-BE49-F238E27FC236}">
                  <a16:creationId xmlns:a16="http://schemas.microsoft.com/office/drawing/2014/main" id="{77B016E7-3538-0D7E-9439-0FEC81C3B9F3}"/>
                </a:ext>
              </a:extLst>
            </p:cNvPr>
            <p:cNvSpPr/>
            <p:nvPr/>
          </p:nvSpPr>
          <p:spPr>
            <a:xfrm>
              <a:off x="11417198" y="3547872"/>
              <a:ext cx="14630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14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MAP</a:t>
              </a:r>
              <a:endParaRPr lang="en-US" sz="900" dirty="0"/>
            </a:p>
          </p:txBody>
        </p:sp>
        <p:sp>
          <p:nvSpPr>
            <p:cNvPr id="134" name="Text 132">
              <a:extLst>
                <a:ext uri="{FF2B5EF4-FFF2-40B4-BE49-F238E27FC236}">
                  <a16:creationId xmlns:a16="http://schemas.microsoft.com/office/drawing/2014/main" id="{01819D26-E95E-566A-BFA1-25055647D584}"/>
                </a:ext>
              </a:extLst>
            </p:cNvPr>
            <p:cNvSpPr/>
            <p:nvPr/>
          </p:nvSpPr>
          <p:spPr>
            <a:xfrm>
              <a:off x="11417198" y="3877056"/>
              <a:ext cx="623072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GB" b="1" dirty="0"/>
                <a:t>Trade Flow by Destination Country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616C9705-8E96-FA88-F3CE-3FB481D3DEBC}"/>
              </a:ext>
            </a:extLst>
          </p:cNvPr>
          <p:cNvGrpSpPr/>
          <p:nvPr/>
        </p:nvGrpSpPr>
        <p:grpSpPr>
          <a:xfrm>
            <a:off x="11353227" y="7032814"/>
            <a:ext cx="6723855" cy="3124800"/>
            <a:chOff x="10958258" y="4862534"/>
            <a:chExt cx="6872542" cy="3124800"/>
          </a:xfrm>
        </p:grpSpPr>
        <p:sp>
          <p:nvSpPr>
            <p:cNvPr id="137" name="Shape 135">
              <a:extLst>
                <a:ext uri="{FF2B5EF4-FFF2-40B4-BE49-F238E27FC236}">
                  <a16:creationId xmlns:a16="http://schemas.microsoft.com/office/drawing/2014/main" id="{29520713-7034-277E-8D01-02CC1615F46C}"/>
                </a:ext>
              </a:extLst>
            </p:cNvPr>
            <p:cNvSpPr/>
            <p:nvPr/>
          </p:nvSpPr>
          <p:spPr>
            <a:xfrm>
              <a:off x="10958258" y="4862534"/>
              <a:ext cx="6872542" cy="3124800"/>
            </a:xfrm>
            <a:prstGeom prst="roundRect">
              <a:avLst>
                <a:gd name="adj" fmla="val 1507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38" name="Shape 136">
              <a:extLst>
                <a:ext uri="{FF2B5EF4-FFF2-40B4-BE49-F238E27FC236}">
                  <a16:creationId xmlns:a16="http://schemas.microsoft.com/office/drawing/2014/main" id="{758CB8D8-AF97-DE12-52BB-89863CA9A9B2}"/>
                </a:ext>
              </a:extLst>
            </p:cNvPr>
            <p:cNvSpPr/>
            <p:nvPr/>
          </p:nvSpPr>
          <p:spPr>
            <a:xfrm>
              <a:off x="11138454" y="5027127"/>
              <a:ext cx="1463040" cy="292608"/>
            </a:xfrm>
            <a:prstGeom prst="roundRect">
              <a:avLst>
                <a:gd name="adj" fmla="val 50000"/>
              </a:avLst>
            </a:prstGeom>
            <a:solidFill>
              <a:srgbClr val="E4EFF1"/>
            </a:solidFill>
            <a:ln/>
          </p:spPr>
        </p:sp>
        <p:sp>
          <p:nvSpPr>
            <p:cNvPr id="139" name="Text 137">
              <a:extLst>
                <a:ext uri="{FF2B5EF4-FFF2-40B4-BE49-F238E27FC236}">
                  <a16:creationId xmlns:a16="http://schemas.microsoft.com/office/drawing/2014/main" id="{DAB0CE99-F7D3-1BC3-E214-D50C6D4C3D2C}"/>
                </a:ext>
              </a:extLst>
            </p:cNvPr>
            <p:cNvSpPr/>
            <p:nvPr/>
          </p:nvSpPr>
          <p:spPr>
            <a:xfrm>
              <a:off x="11138454" y="5027127"/>
              <a:ext cx="14630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14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COLUMN</a:t>
              </a:r>
              <a:endParaRPr lang="en-US" sz="900" dirty="0"/>
            </a:p>
          </p:txBody>
        </p:sp>
        <p:sp>
          <p:nvSpPr>
            <p:cNvPr id="145" name="Text 143">
              <a:extLst>
                <a:ext uri="{FF2B5EF4-FFF2-40B4-BE49-F238E27FC236}">
                  <a16:creationId xmlns:a16="http://schemas.microsoft.com/office/drawing/2014/main" id="{EDB1153C-3C8F-DB79-8175-B79E7F2DB0A6}"/>
                </a:ext>
              </a:extLst>
            </p:cNvPr>
            <p:cNvSpPr/>
            <p:nvPr/>
          </p:nvSpPr>
          <p:spPr>
            <a:xfrm>
              <a:off x="11138454" y="5356311"/>
              <a:ext cx="623072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GB" b="1" dirty="0"/>
                <a:t>Shipment Value by Product Category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F06D7A9-59F4-8DC3-BB3D-C4D1E3E898B2}"/>
              </a:ext>
            </a:extLst>
          </p:cNvPr>
          <p:cNvGrpSpPr/>
          <p:nvPr/>
        </p:nvGrpSpPr>
        <p:grpSpPr>
          <a:xfrm>
            <a:off x="1356376" y="7032814"/>
            <a:ext cx="4819836" cy="3124800"/>
            <a:chOff x="11234318" y="6341791"/>
            <a:chExt cx="7915420" cy="3124800"/>
          </a:xfrm>
        </p:grpSpPr>
        <p:sp>
          <p:nvSpPr>
            <p:cNvPr id="148" name="Shape 146">
              <a:extLst>
                <a:ext uri="{FF2B5EF4-FFF2-40B4-BE49-F238E27FC236}">
                  <a16:creationId xmlns:a16="http://schemas.microsoft.com/office/drawing/2014/main" id="{9FCDDE13-0B61-5BF7-3AE8-F7479609DE57}"/>
                </a:ext>
              </a:extLst>
            </p:cNvPr>
            <p:cNvSpPr/>
            <p:nvPr/>
          </p:nvSpPr>
          <p:spPr>
            <a:xfrm>
              <a:off x="11234318" y="6341791"/>
              <a:ext cx="7915420" cy="3124800"/>
            </a:xfrm>
            <a:prstGeom prst="roundRect">
              <a:avLst>
                <a:gd name="adj" fmla="val 2436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49" name="Shape 147">
              <a:extLst>
                <a:ext uri="{FF2B5EF4-FFF2-40B4-BE49-F238E27FC236}">
                  <a16:creationId xmlns:a16="http://schemas.microsoft.com/office/drawing/2014/main" id="{7741BDC0-EDD6-BE0E-E7CC-9B6729E3FC05}"/>
                </a:ext>
              </a:extLst>
            </p:cNvPr>
            <p:cNvSpPr/>
            <p:nvPr/>
          </p:nvSpPr>
          <p:spPr>
            <a:xfrm>
              <a:off x="11417198" y="6506383"/>
              <a:ext cx="1463040" cy="292608"/>
            </a:xfrm>
            <a:prstGeom prst="roundRect">
              <a:avLst>
                <a:gd name="adj" fmla="val 50000"/>
              </a:avLst>
            </a:prstGeom>
            <a:solidFill>
              <a:srgbClr val="E4EFF1"/>
            </a:solidFill>
            <a:ln/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50" name="Text 148">
              <a:extLst>
                <a:ext uri="{FF2B5EF4-FFF2-40B4-BE49-F238E27FC236}">
                  <a16:creationId xmlns:a16="http://schemas.microsoft.com/office/drawing/2014/main" id="{A4F33BC0-7D55-4CB9-100C-1E54833DFCA6}"/>
                </a:ext>
              </a:extLst>
            </p:cNvPr>
            <p:cNvSpPr/>
            <p:nvPr/>
          </p:nvSpPr>
          <p:spPr>
            <a:xfrm>
              <a:off x="11417198" y="6506383"/>
              <a:ext cx="14630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14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DONUT</a:t>
              </a:r>
              <a:endParaRPr lang="en-US" sz="900" dirty="0"/>
            </a:p>
          </p:txBody>
        </p:sp>
        <p:sp>
          <p:nvSpPr>
            <p:cNvPr id="156" name="Text 154">
              <a:extLst>
                <a:ext uri="{FF2B5EF4-FFF2-40B4-BE49-F238E27FC236}">
                  <a16:creationId xmlns:a16="http://schemas.microsoft.com/office/drawing/2014/main" id="{7AB782E5-A5AE-6AB8-05EA-A21D0981B283}"/>
                </a:ext>
              </a:extLst>
            </p:cNvPr>
            <p:cNvSpPr/>
            <p:nvPr/>
          </p:nvSpPr>
          <p:spPr>
            <a:xfrm>
              <a:off x="11417198" y="6835567"/>
              <a:ext cx="623072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GB" b="1" dirty="0"/>
                <a:t>On-Time vs Delayed Shipments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B3C552F-49E0-EA78-52E8-28A7EE7EA95B}"/>
              </a:ext>
            </a:extLst>
          </p:cNvPr>
          <p:cNvGrpSpPr/>
          <p:nvPr/>
        </p:nvGrpSpPr>
        <p:grpSpPr>
          <a:xfrm>
            <a:off x="1294827" y="347472"/>
            <a:ext cx="10972800" cy="676656"/>
            <a:chOff x="1691640" y="347472"/>
            <a:chExt cx="10972800" cy="676656"/>
          </a:xfrm>
        </p:grpSpPr>
        <p:sp>
          <p:nvSpPr>
            <p:cNvPr id="3" name="Text 3">
              <a:extLst>
                <a:ext uri="{FF2B5EF4-FFF2-40B4-BE49-F238E27FC236}">
                  <a16:creationId xmlns:a16="http://schemas.microsoft.com/office/drawing/2014/main" id="{89FAF52D-0CE0-5382-9A11-538EE79FFBEE}"/>
                </a:ext>
              </a:extLst>
            </p:cNvPr>
            <p:cNvSpPr/>
            <p:nvPr/>
          </p:nvSpPr>
          <p:spPr>
            <a:xfrm>
              <a:off x="1691640" y="347472"/>
              <a:ext cx="10058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>
                      <a:lumMod val="75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Shipment &amp; Trade Flow</a:t>
              </a:r>
              <a:endParaRPr lang="en-US" sz="28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2E90A5AF-E24A-F391-F5FB-C5F48D2D3250}"/>
                </a:ext>
              </a:extLst>
            </p:cNvPr>
            <p:cNvSpPr/>
            <p:nvPr/>
          </p:nvSpPr>
          <p:spPr>
            <a:xfrm>
              <a:off x="1691640" y="749808"/>
              <a:ext cx="10972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tabLst>
                  <a:tab pos="4210050" algn="l"/>
                </a:tabLst>
              </a:pPr>
              <a:r>
                <a:rPr lang="en-US" sz="1600" dirty="0">
                  <a:solidFill>
                    <a:schemeClr val="tx2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Where is freight moving, and is it arriving on time and on budget?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7C24C8E-9F52-029B-2D91-6324EDD69169}"/>
              </a:ext>
            </a:extLst>
          </p:cNvPr>
          <p:cNvGrpSpPr/>
          <p:nvPr/>
        </p:nvGrpSpPr>
        <p:grpSpPr>
          <a:xfrm>
            <a:off x="14232373" y="1251264"/>
            <a:ext cx="365760" cy="365760"/>
            <a:chOff x="14054328" y="1545336"/>
            <a:chExt cx="365760" cy="365760"/>
          </a:xfrm>
        </p:grpSpPr>
        <p:sp>
          <p:nvSpPr>
            <p:cNvPr id="77" name="Shape 75">
              <a:extLst>
                <a:ext uri="{FF2B5EF4-FFF2-40B4-BE49-F238E27FC236}">
                  <a16:creationId xmlns:a16="http://schemas.microsoft.com/office/drawing/2014/main" id="{82EF547F-7B53-834A-1883-E8B8C5557BA3}"/>
                </a:ext>
              </a:extLst>
            </p:cNvPr>
            <p:cNvSpPr/>
            <p:nvPr/>
          </p:nvSpPr>
          <p:spPr>
            <a:xfrm>
              <a:off x="14054328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78" name="Shape 76">
              <a:extLst>
                <a:ext uri="{FF2B5EF4-FFF2-40B4-BE49-F238E27FC236}">
                  <a16:creationId xmlns:a16="http://schemas.microsoft.com/office/drawing/2014/main" id="{6848C03C-EC3C-5200-E8C2-08517D109F39}"/>
                </a:ext>
              </a:extLst>
            </p:cNvPr>
            <p:cNvSpPr/>
            <p:nvPr/>
          </p:nvSpPr>
          <p:spPr>
            <a:xfrm>
              <a:off x="14134795" y="1625803"/>
              <a:ext cx="204826" cy="204826"/>
            </a:xfrm>
            <a:prstGeom prst="ellipse">
              <a:avLst/>
            </a:prstGeom>
            <a:ln w="30480">
              <a:solidFill>
                <a:srgbClr val="FFFFFF"/>
              </a:solidFill>
              <a:prstDash val="solid"/>
            </a:ln>
          </p:spPr>
        </p:sp>
        <p:sp>
          <p:nvSpPr>
            <p:cNvPr id="79" name="Shape 77">
              <a:extLst>
                <a:ext uri="{FF2B5EF4-FFF2-40B4-BE49-F238E27FC236}">
                  <a16:creationId xmlns:a16="http://schemas.microsoft.com/office/drawing/2014/main" id="{FAEA4BA2-EB0F-349D-AE2A-07B7FC2D461A}"/>
                </a:ext>
              </a:extLst>
            </p:cNvPr>
            <p:cNvSpPr/>
            <p:nvPr/>
          </p:nvSpPr>
          <p:spPr>
            <a:xfrm>
              <a:off x="14232636" y="1666768"/>
              <a:ext cx="9144" cy="61448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  <p:sp>
          <p:nvSpPr>
            <p:cNvPr id="80" name="Shape 78">
              <a:extLst>
                <a:ext uri="{FF2B5EF4-FFF2-40B4-BE49-F238E27FC236}">
                  <a16:creationId xmlns:a16="http://schemas.microsoft.com/office/drawing/2014/main" id="{EFC6FD16-15B4-3B39-04ED-03DA041C299E}"/>
                </a:ext>
              </a:extLst>
            </p:cNvPr>
            <p:cNvSpPr/>
            <p:nvPr/>
          </p:nvSpPr>
          <p:spPr>
            <a:xfrm>
              <a:off x="14237208" y="1723644"/>
              <a:ext cx="49158" cy="9144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9B9BB81-9271-6F13-DADD-93BC14DD7998}"/>
              </a:ext>
            </a:extLst>
          </p:cNvPr>
          <p:cNvGrpSpPr/>
          <p:nvPr/>
        </p:nvGrpSpPr>
        <p:grpSpPr>
          <a:xfrm>
            <a:off x="4038739" y="1238771"/>
            <a:ext cx="365760" cy="365760"/>
            <a:chOff x="4233672" y="1545336"/>
            <a:chExt cx="365760" cy="365760"/>
          </a:xfrm>
        </p:grpSpPr>
        <p:sp>
          <p:nvSpPr>
            <p:cNvPr id="72" name="Shape 24">
              <a:extLst>
                <a:ext uri="{FF2B5EF4-FFF2-40B4-BE49-F238E27FC236}">
                  <a16:creationId xmlns:a16="http://schemas.microsoft.com/office/drawing/2014/main" id="{21EDB303-1CAF-3F2E-D91E-824468AB20C2}"/>
                </a:ext>
              </a:extLst>
            </p:cNvPr>
            <p:cNvSpPr/>
            <p:nvPr/>
          </p:nvSpPr>
          <p:spPr>
            <a:xfrm>
              <a:off x="4233672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73" name="Text 25">
              <a:extLst>
                <a:ext uri="{FF2B5EF4-FFF2-40B4-BE49-F238E27FC236}">
                  <a16:creationId xmlns:a16="http://schemas.microsoft.com/office/drawing/2014/main" id="{5CDC19CF-E174-D937-375D-78C5C85117C9}"/>
                </a:ext>
              </a:extLst>
            </p:cNvPr>
            <p:cNvSpPr/>
            <p:nvPr/>
          </p:nvSpPr>
          <p:spPr>
            <a:xfrm>
              <a:off x="4233672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</a:t>
              </a:r>
              <a:endParaRPr lang="en-US" sz="16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889E835-5732-FA32-BCA8-225797FC3FF4}"/>
              </a:ext>
            </a:extLst>
          </p:cNvPr>
          <p:cNvGrpSpPr/>
          <p:nvPr/>
        </p:nvGrpSpPr>
        <p:grpSpPr>
          <a:xfrm>
            <a:off x="7436617" y="1238771"/>
            <a:ext cx="365760" cy="365760"/>
            <a:chOff x="7507224" y="1545336"/>
            <a:chExt cx="365760" cy="365760"/>
          </a:xfrm>
        </p:grpSpPr>
        <p:sp>
          <p:nvSpPr>
            <p:cNvPr id="67" name="Shape 41">
              <a:extLst>
                <a:ext uri="{FF2B5EF4-FFF2-40B4-BE49-F238E27FC236}">
                  <a16:creationId xmlns:a16="http://schemas.microsoft.com/office/drawing/2014/main" id="{8F34EB53-4730-9C7D-D435-6A5AE5A90657}"/>
                </a:ext>
              </a:extLst>
            </p:cNvPr>
            <p:cNvSpPr/>
            <p:nvPr/>
          </p:nvSpPr>
          <p:spPr>
            <a:xfrm>
              <a:off x="7507224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68" name="Shape 42">
              <a:extLst>
                <a:ext uri="{FF2B5EF4-FFF2-40B4-BE49-F238E27FC236}">
                  <a16:creationId xmlns:a16="http://schemas.microsoft.com/office/drawing/2014/main" id="{0D7AAB54-7690-29D3-1F93-5A573D3213A4}"/>
                </a:ext>
              </a:extLst>
            </p:cNvPr>
            <p:cNvSpPr/>
            <p:nvPr/>
          </p:nvSpPr>
          <p:spPr>
            <a:xfrm>
              <a:off x="7565746" y="1677010"/>
              <a:ext cx="153619" cy="87782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69" name="Shape 43">
              <a:extLst>
                <a:ext uri="{FF2B5EF4-FFF2-40B4-BE49-F238E27FC236}">
                  <a16:creationId xmlns:a16="http://schemas.microsoft.com/office/drawing/2014/main" id="{F3E9FB98-1AD9-1588-0C26-8DC0300F1338}"/>
                </a:ext>
              </a:extLst>
            </p:cNvPr>
            <p:cNvSpPr/>
            <p:nvPr/>
          </p:nvSpPr>
          <p:spPr>
            <a:xfrm>
              <a:off x="7719365" y="1691640"/>
              <a:ext cx="73152" cy="73152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70" name="Shape 44">
              <a:extLst>
                <a:ext uri="{FF2B5EF4-FFF2-40B4-BE49-F238E27FC236}">
                  <a16:creationId xmlns:a16="http://schemas.microsoft.com/office/drawing/2014/main" id="{B8947745-B549-517E-585C-033BE68894FB}"/>
                </a:ext>
              </a:extLst>
            </p:cNvPr>
            <p:cNvSpPr/>
            <p:nvPr/>
          </p:nvSpPr>
          <p:spPr>
            <a:xfrm>
              <a:off x="7595006" y="1757477"/>
              <a:ext cx="43891" cy="43891"/>
            </a:xfrm>
            <a:prstGeom prst="ellipse">
              <a:avLst/>
            </a:prstGeom>
            <a:solidFill>
              <a:srgbClr val="3E8A9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71" name="Shape 45">
              <a:extLst>
                <a:ext uri="{FF2B5EF4-FFF2-40B4-BE49-F238E27FC236}">
                  <a16:creationId xmlns:a16="http://schemas.microsoft.com/office/drawing/2014/main" id="{25B6038E-EE0E-81DE-C410-52589C117B8E}"/>
                </a:ext>
              </a:extLst>
            </p:cNvPr>
            <p:cNvSpPr/>
            <p:nvPr/>
          </p:nvSpPr>
          <p:spPr>
            <a:xfrm>
              <a:off x="7719365" y="1757477"/>
              <a:ext cx="43891" cy="43891"/>
            </a:xfrm>
            <a:prstGeom prst="ellipse">
              <a:avLst/>
            </a:prstGeom>
            <a:solidFill>
              <a:srgbClr val="3E8A96"/>
            </a:solidFill>
            <a:ln w="19050">
              <a:solidFill>
                <a:srgbClr val="FFFFFF"/>
              </a:solidFill>
              <a:prstDash val="solid"/>
            </a:ln>
          </p:spPr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85C9C09-2E58-2578-9B56-0CDFEB254D3F}"/>
              </a:ext>
            </a:extLst>
          </p:cNvPr>
          <p:cNvGrpSpPr/>
          <p:nvPr/>
        </p:nvGrpSpPr>
        <p:grpSpPr>
          <a:xfrm>
            <a:off x="10834495" y="1238771"/>
            <a:ext cx="365760" cy="365760"/>
            <a:chOff x="10780776" y="1545336"/>
            <a:chExt cx="365760" cy="365760"/>
          </a:xfrm>
        </p:grpSpPr>
        <p:sp>
          <p:nvSpPr>
            <p:cNvPr id="64" name="Shape 61">
              <a:extLst>
                <a:ext uri="{FF2B5EF4-FFF2-40B4-BE49-F238E27FC236}">
                  <a16:creationId xmlns:a16="http://schemas.microsoft.com/office/drawing/2014/main" id="{AF066765-596D-86E4-9DE5-0C4BDA331F88}"/>
                </a:ext>
              </a:extLst>
            </p:cNvPr>
            <p:cNvSpPr/>
            <p:nvPr/>
          </p:nvSpPr>
          <p:spPr>
            <a:xfrm>
              <a:off x="10780776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65" name="Shape 62">
              <a:extLst>
                <a:ext uri="{FF2B5EF4-FFF2-40B4-BE49-F238E27FC236}">
                  <a16:creationId xmlns:a16="http://schemas.microsoft.com/office/drawing/2014/main" id="{E6F6AAC4-CB69-1B3C-E8A1-F38E3E9A4D8E}"/>
                </a:ext>
              </a:extLst>
            </p:cNvPr>
            <p:cNvSpPr/>
            <p:nvPr/>
          </p:nvSpPr>
          <p:spPr>
            <a:xfrm>
              <a:off x="10883189" y="1735531"/>
              <a:ext cx="58522" cy="58522"/>
            </a:xfrm>
            <a:prstGeom prst="line">
              <a:avLst/>
            </a:prstGeom>
            <a:noFill/>
            <a:ln w="34925">
              <a:solidFill>
                <a:srgbClr val="FFFFFF"/>
              </a:solidFill>
              <a:prstDash val="solid"/>
            </a:ln>
          </p:spPr>
        </p:sp>
        <p:sp>
          <p:nvSpPr>
            <p:cNvPr id="66" name="Shape 63">
              <a:extLst>
                <a:ext uri="{FF2B5EF4-FFF2-40B4-BE49-F238E27FC236}">
                  <a16:creationId xmlns:a16="http://schemas.microsoft.com/office/drawing/2014/main" id="{78E13B19-AC14-4F8B-A93E-ED6BCA8D9B14}"/>
                </a:ext>
              </a:extLst>
            </p:cNvPr>
            <p:cNvSpPr/>
            <p:nvPr/>
          </p:nvSpPr>
          <p:spPr>
            <a:xfrm flipV="1">
              <a:off x="10941710" y="1662379"/>
              <a:ext cx="109728" cy="131674"/>
            </a:xfrm>
            <a:prstGeom prst="line">
              <a:avLst/>
            </a:prstGeom>
            <a:noFill/>
            <a:ln w="34925">
              <a:solidFill>
                <a:srgbClr val="FFFFFF"/>
              </a:solidFill>
              <a:prstDash val="solid"/>
            </a:ln>
          </p:spPr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0C102F1-D41C-98D7-4797-30623B012D05}"/>
              </a:ext>
            </a:extLst>
          </p:cNvPr>
          <p:cNvGrpSpPr/>
          <p:nvPr/>
        </p:nvGrpSpPr>
        <p:grpSpPr>
          <a:xfrm>
            <a:off x="17630249" y="1238771"/>
            <a:ext cx="365760" cy="365760"/>
            <a:chOff x="17327880" y="1545336"/>
            <a:chExt cx="365760" cy="365760"/>
          </a:xfrm>
        </p:grpSpPr>
        <p:sp>
          <p:nvSpPr>
            <p:cNvPr id="55" name="Shape 98">
              <a:extLst>
                <a:ext uri="{FF2B5EF4-FFF2-40B4-BE49-F238E27FC236}">
                  <a16:creationId xmlns:a16="http://schemas.microsoft.com/office/drawing/2014/main" id="{EA2E8E9E-13B1-DE21-A25F-B71EA7A30C99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56" name="Text 99">
              <a:extLst>
                <a:ext uri="{FF2B5EF4-FFF2-40B4-BE49-F238E27FC236}">
                  <a16:creationId xmlns:a16="http://schemas.microsoft.com/office/drawing/2014/main" id="{7445433C-8E4F-AAFE-F5B0-09FEA32B1528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</a:t>
              </a:r>
              <a:endParaRPr lang="en-US" sz="16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B2C589C-D86B-190E-9DDC-2FE002FA248B}"/>
              </a:ext>
            </a:extLst>
          </p:cNvPr>
          <p:cNvGrpSpPr/>
          <p:nvPr/>
        </p:nvGrpSpPr>
        <p:grpSpPr>
          <a:xfrm>
            <a:off x="6353599" y="7006490"/>
            <a:ext cx="4819836" cy="3124800"/>
            <a:chOff x="11234318" y="6341791"/>
            <a:chExt cx="7915420" cy="3124800"/>
          </a:xfrm>
        </p:grpSpPr>
        <p:sp>
          <p:nvSpPr>
            <p:cNvPr id="81" name="Shape 146">
              <a:extLst>
                <a:ext uri="{FF2B5EF4-FFF2-40B4-BE49-F238E27FC236}">
                  <a16:creationId xmlns:a16="http://schemas.microsoft.com/office/drawing/2014/main" id="{6C0AE561-5028-24E8-B548-7D867F0A6FCE}"/>
                </a:ext>
              </a:extLst>
            </p:cNvPr>
            <p:cNvSpPr/>
            <p:nvPr/>
          </p:nvSpPr>
          <p:spPr>
            <a:xfrm>
              <a:off x="11234318" y="6341791"/>
              <a:ext cx="7915420" cy="3124800"/>
            </a:xfrm>
            <a:prstGeom prst="roundRect">
              <a:avLst>
                <a:gd name="adj" fmla="val 2436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82" name="Shape 147">
              <a:extLst>
                <a:ext uri="{FF2B5EF4-FFF2-40B4-BE49-F238E27FC236}">
                  <a16:creationId xmlns:a16="http://schemas.microsoft.com/office/drawing/2014/main" id="{18099CCF-49AE-DAD2-DD35-7649DA752D8F}"/>
                </a:ext>
              </a:extLst>
            </p:cNvPr>
            <p:cNvSpPr/>
            <p:nvPr/>
          </p:nvSpPr>
          <p:spPr>
            <a:xfrm>
              <a:off x="11417198" y="6506383"/>
              <a:ext cx="1463040" cy="292608"/>
            </a:xfrm>
            <a:prstGeom prst="roundRect">
              <a:avLst>
                <a:gd name="adj" fmla="val 50000"/>
              </a:avLst>
            </a:prstGeom>
            <a:solidFill>
              <a:srgbClr val="E4EFF1"/>
            </a:solidFill>
            <a:ln/>
          </p:spPr>
        </p:sp>
        <p:sp>
          <p:nvSpPr>
            <p:cNvPr id="83" name="Text 148">
              <a:extLst>
                <a:ext uri="{FF2B5EF4-FFF2-40B4-BE49-F238E27FC236}">
                  <a16:creationId xmlns:a16="http://schemas.microsoft.com/office/drawing/2014/main" id="{0AFE7F07-6E48-B3E2-DCEF-D713E3DE4389}"/>
                </a:ext>
              </a:extLst>
            </p:cNvPr>
            <p:cNvSpPr/>
            <p:nvPr/>
          </p:nvSpPr>
          <p:spPr>
            <a:xfrm>
              <a:off x="11417198" y="6506383"/>
              <a:ext cx="14630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14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</a:t>
              </a:r>
              <a:endParaRPr lang="en-US" sz="900" dirty="0"/>
            </a:p>
          </p:txBody>
        </p:sp>
        <p:sp>
          <p:nvSpPr>
            <p:cNvPr id="84" name="Text 154">
              <a:extLst>
                <a:ext uri="{FF2B5EF4-FFF2-40B4-BE49-F238E27FC236}">
                  <a16:creationId xmlns:a16="http://schemas.microsoft.com/office/drawing/2014/main" id="{72E4D80F-4E5B-9A4B-E659-8E210228D42C}"/>
                </a:ext>
              </a:extLst>
            </p:cNvPr>
            <p:cNvSpPr/>
            <p:nvPr/>
          </p:nvSpPr>
          <p:spPr>
            <a:xfrm>
              <a:off x="11417198" y="6835567"/>
              <a:ext cx="623072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/>
                <a:t>Market Type by Shipments Value</a:t>
              </a:r>
            </a:p>
          </p:txBody>
        </p:sp>
      </p:grpSp>
      <p:pic>
        <p:nvPicPr>
          <p:cNvPr id="86" name="Picture 85">
            <a:extLst>
              <a:ext uri="{FF2B5EF4-FFF2-40B4-BE49-F238E27FC236}">
                <a16:creationId xmlns:a16="http://schemas.microsoft.com/office/drawing/2014/main" id="{3542976B-AD49-1E91-D49E-02F81EB3E42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564578" y="468403"/>
            <a:ext cx="425933" cy="4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40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B11D7-0FB2-A34B-92D4-D5629AEC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A39EDDC-0198-7E19-4B32-E0DC8E397C46}"/>
              </a:ext>
            </a:extLst>
          </p:cNvPr>
          <p:cNvGrpSpPr/>
          <p:nvPr/>
        </p:nvGrpSpPr>
        <p:grpSpPr>
          <a:xfrm>
            <a:off x="1297800" y="1158006"/>
            <a:ext cx="16779282" cy="2040689"/>
            <a:chOff x="1297800" y="1158006"/>
            <a:chExt cx="16779282" cy="2040689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E7CCDC42-4D4F-F9A5-B6C7-3A29DA98746F}"/>
                </a:ext>
              </a:extLst>
            </p:cNvPr>
            <p:cNvSpPr/>
            <p:nvPr/>
          </p:nvSpPr>
          <p:spPr>
            <a:xfrm>
              <a:off x="1297800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224DEE28-C7EE-0F39-EF39-3F1D9AB38EF1}"/>
                </a:ext>
              </a:extLst>
            </p:cNvPr>
            <p:cNvSpPr/>
            <p:nvPr/>
          </p:nvSpPr>
          <p:spPr>
            <a:xfrm>
              <a:off x="4692887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37402F96-C8CA-EB2D-58AF-D45E2A92A37E}"/>
                </a:ext>
              </a:extLst>
            </p:cNvPr>
            <p:cNvSpPr/>
            <p:nvPr/>
          </p:nvSpPr>
          <p:spPr>
            <a:xfrm>
              <a:off x="8087974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76" name="Shape 74">
              <a:extLst>
                <a:ext uri="{FF2B5EF4-FFF2-40B4-BE49-F238E27FC236}">
                  <a16:creationId xmlns:a16="http://schemas.microsoft.com/office/drawing/2014/main" id="{9F964EAE-FFFE-8C89-14DB-9A74779B2E3E}"/>
                </a:ext>
              </a:extLst>
            </p:cNvPr>
            <p:cNvSpPr/>
            <p:nvPr/>
          </p:nvSpPr>
          <p:spPr>
            <a:xfrm>
              <a:off x="11483061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95" name="Shape 93">
              <a:extLst>
                <a:ext uri="{FF2B5EF4-FFF2-40B4-BE49-F238E27FC236}">
                  <a16:creationId xmlns:a16="http://schemas.microsoft.com/office/drawing/2014/main" id="{E38F3143-0EFE-2931-0784-28410780A03C}"/>
                </a:ext>
              </a:extLst>
            </p:cNvPr>
            <p:cNvSpPr/>
            <p:nvPr/>
          </p:nvSpPr>
          <p:spPr>
            <a:xfrm>
              <a:off x="14873082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89" name="Shape 23">
              <a:extLst>
                <a:ext uri="{FF2B5EF4-FFF2-40B4-BE49-F238E27FC236}">
                  <a16:creationId xmlns:a16="http://schemas.microsoft.com/office/drawing/2014/main" id="{49DAED73-01CA-24A3-C30E-FDCE773EC8E4}"/>
                </a:ext>
              </a:extLst>
            </p:cNvPr>
            <p:cNvSpPr/>
            <p:nvPr/>
          </p:nvSpPr>
          <p:spPr>
            <a:xfrm>
              <a:off x="129780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0" name="Shape 23">
              <a:extLst>
                <a:ext uri="{FF2B5EF4-FFF2-40B4-BE49-F238E27FC236}">
                  <a16:creationId xmlns:a16="http://schemas.microsoft.com/office/drawing/2014/main" id="{BD25D110-78B3-C54D-B31F-A55E346BA489}"/>
                </a:ext>
              </a:extLst>
            </p:cNvPr>
            <p:cNvSpPr/>
            <p:nvPr/>
          </p:nvSpPr>
          <p:spPr>
            <a:xfrm>
              <a:off x="470093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1" name="Shape 23">
              <a:extLst>
                <a:ext uri="{FF2B5EF4-FFF2-40B4-BE49-F238E27FC236}">
                  <a16:creationId xmlns:a16="http://schemas.microsoft.com/office/drawing/2014/main" id="{7BABBB5F-0A89-9CBC-CC2D-27F58E347574}"/>
                </a:ext>
              </a:extLst>
            </p:cNvPr>
            <p:cNvSpPr/>
            <p:nvPr/>
          </p:nvSpPr>
          <p:spPr>
            <a:xfrm>
              <a:off x="810406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2" name="Shape 23">
              <a:extLst>
                <a:ext uri="{FF2B5EF4-FFF2-40B4-BE49-F238E27FC236}">
                  <a16:creationId xmlns:a16="http://schemas.microsoft.com/office/drawing/2014/main" id="{1F7AC077-17E9-8BB5-D296-AB25A334EC8F}"/>
                </a:ext>
              </a:extLst>
            </p:cNvPr>
            <p:cNvSpPr/>
            <p:nvPr/>
          </p:nvSpPr>
          <p:spPr>
            <a:xfrm>
              <a:off x="1150719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3" name="Shape 23">
              <a:extLst>
                <a:ext uri="{FF2B5EF4-FFF2-40B4-BE49-F238E27FC236}">
                  <a16:creationId xmlns:a16="http://schemas.microsoft.com/office/drawing/2014/main" id="{2C306EC9-FA46-C2D6-1BD1-5B10A15EE3BA}"/>
                </a:ext>
              </a:extLst>
            </p:cNvPr>
            <p:cNvSpPr/>
            <p:nvPr/>
          </p:nvSpPr>
          <p:spPr>
            <a:xfrm>
              <a:off x="14873082" y="2533726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4084D1B-571D-7477-FF2A-5F405009BD9E}"/>
              </a:ext>
            </a:extLst>
          </p:cNvPr>
          <p:cNvGrpSpPr/>
          <p:nvPr/>
        </p:nvGrpSpPr>
        <p:grpSpPr>
          <a:xfrm>
            <a:off x="113004" y="347472"/>
            <a:ext cx="1005840" cy="9858267"/>
            <a:chOff x="320040" y="364725"/>
            <a:chExt cx="1005840" cy="9858267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8E9C836C-9A2E-F408-9B4A-F5ACD93B72BE}"/>
                </a:ext>
              </a:extLst>
            </p:cNvPr>
            <p:cNvSpPr/>
            <p:nvPr/>
          </p:nvSpPr>
          <p:spPr>
            <a:xfrm>
              <a:off x="320040" y="364725"/>
              <a:ext cx="1005840" cy="9858267"/>
            </a:xfrm>
            <a:prstGeom prst="roundRect">
              <a:avLst>
                <a:gd name="adj" fmla="val 13551"/>
              </a:avLst>
            </a:prstGeom>
            <a:solidFill>
              <a:srgbClr val="14324A"/>
            </a:solidFill>
            <a:ln/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A23817D8-54E4-38EA-27FB-3A78A88222F3}"/>
                </a:ext>
              </a:extLst>
            </p:cNvPr>
            <p:cNvSpPr/>
            <p:nvPr/>
          </p:nvSpPr>
          <p:spPr>
            <a:xfrm>
              <a:off x="539496" y="4032504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79E2C1BC-9279-536E-C62C-B00475190819}"/>
                </a:ext>
              </a:extLst>
            </p:cNvPr>
            <p:cNvSpPr/>
            <p:nvPr/>
          </p:nvSpPr>
          <p:spPr>
            <a:xfrm>
              <a:off x="732252" y="4100535"/>
              <a:ext cx="181417" cy="181417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DDE4CDCC-9278-05EE-6E08-4F7CA91E159D}"/>
                </a:ext>
              </a:extLst>
            </p:cNvPr>
            <p:cNvSpPr/>
            <p:nvPr/>
          </p:nvSpPr>
          <p:spPr>
            <a:xfrm>
              <a:off x="652882" y="4315968"/>
              <a:ext cx="340157" cy="192756"/>
            </a:xfrm>
            <a:prstGeom prst="roundRect">
              <a:avLst>
                <a:gd name="adj" fmla="val 40000"/>
              </a:avLst>
            </a:prstGeom>
            <a:solidFill>
              <a:srgbClr val="AFC6CE"/>
            </a:solidFill>
            <a:ln/>
          </p:spPr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B65AFFDE-1CBE-0FB9-BE50-7383A00C3F45}"/>
                </a:ext>
              </a:extLst>
            </p:cNvPr>
            <p:cNvSpPr/>
            <p:nvPr/>
          </p:nvSpPr>
          <p:spPr>
            <a:xfrm>
              <a:off x="539496" y="4837176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E8734A"/>
            </a:solidFill>
            <a:ln/>
          </p:spPr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210EE3EF-75E1-3A64-8D75-C6A2BA74CDCC}"/>
                </a:ext>
              </a:extLst>
            </p:cNvPr>
            <p:cNvSpPr/>
            <p:nvPr/>
          </p:nvSpPr>
          <p:spPr>
            <a:xfrm>
              <a:off x="596189" y="5052609"/>
              <a:ext cx="283464" cy="158740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FDFB29FF-C481-6D63-8F64-A8F0AF988F1F}"/>
                </a:ext>
              </a:extLst>
            </p:cNvPr>
            <p:cNvSpPr/>
            <p:nvPr/>
          </p:nvSpPr>
          <p:spPr>
            <a:xfrm>
              <a:off x="879653" y="5086624"/>
              <a:ext cx="136063" cy="124724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41C51AD-AD4F-2BDB-9072-21E299E46664}"/>
                </a:ext>
              </a:extLst>
            </p:cNvPr>
            <p:cNvSpPr/>
            <p:nvPr/>
          </p:nvSpPr>
          <p:spPr>
            <a:xfrm>
              <a:off x="652882" y="5200010"/>
              <a:ext cx="79370" cy="79370"/>
            </a:xfrm>
            <a:prstGeom prst="ellipse">
              <a:avLst/>
            </a:prstGeom>
            <a:solidFill>
              <a:srgbClr val="14324A"/>
            </a:solidFill>
            <a:ln/>
          </p:spPr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45F9C25B-C17A-423B-75EB-9344B23DD513}"/>
                </a:ext>
              </a:extLst>
            </p:cNvPr>
            <p:cNvSpPr/>
            <p:nvPr/>
          </p:nvSpPr>
          <p:spPr>
            <a:xfrm>
              <a:off x="868314" y="5200010"/>
              <a:ext cx="79370" cy="79370"/>
            </a:xfrm>
            <a:prstGeom prst="ellipse">
              <a:avLst/>
            </a:prstGeom>
            <a:solidFill>
              <a:srgbClr val="14324A"/>
            </a:solidFill>
            <a:ln/>
          </p:spPr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8C1CE78D-59A2-DCF1-105D-4F73CFA145C6}"/>
                </a:ext>
              </a:extLst>
            </p:cNvPr>
            <p:cNvSpPr/>
            <p:nvPr/>
          </p:nvSpPr>
          <p:spPr>
            <a:xfrm>
              <a:off x="539496" y="5641848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E2C8DC5F-FE90-2173-7D80-11090D769172}"/>
                </a:ext>
              </a:extLst>
            </p:cNvPr>
            <p:cNvSpPr/>
            <p:nvPr/>
          </p:nvSpPr>
          <p:spPr>
            <a:xfrm>
              <a:off x="624535" y="5755234"/>
              <a:ext cx="181417" cy="181417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3EC9C6A5-059F-01B2-6631-392A0B6EFCD2}"/>
                </a:ext>
              </a:extLst>
            </p:cNvPr>
            <p:cNvSpPr/>
            <p:nvPr/>
          </p:nvSpPr>
          <p:spPr>
            <a:xfrm>
              <a:off x="839968" y="5755234"/>
              <a:ext cx="181417" cy="181417"/>
            </a:xfrm>
            <a:prstGeom prst="rect">
              <a:avLst/>
            </a:prstGeom>
            <a:ln w="25400">
              <a:solidFill>
                <a:srgbClr val="AFC6CE"/>
              </a:solidFill>
              <a:prstDash val="solid"/>
            </a:ln>
          </p:spPr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8D5E42BE-2CA2-6BE2-C717-F6BDA9F5F39D}"/>
                </a:ext>
              </a:extLst>
            </p:cNvPr>
            <p:cNvSpPr/>
            <p:nvPr/>
          </p:nvSpPr>
          <p:spPr>
            <a:xfrm>
              <a:off x="624535" y="5970666"/>
              <a:ext cx="181417" cy="181417"/>
            </a:xfrm>
            <a:prstGeom prst="rect">
              <a:avLst/>
            </a:prstGeom>
            <a:ln w="25400">
              <a:solidFill>
                <a:srgbClr val="AFC6CE"/>
              </a:solidFill>
              <a:prstDash val="solid"/>
            </a:ln>
          </p:spPr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A9EBFEF7-FDF0-9322-FD86-276DE8C15152}"/>
                </a:ext>
              </a:extLst>
            </p:cNvPr>
            <p:cNvSpPr/>
            <p:nvPr/>
          </p:nvSpPr>
          <p:spPr>
            <a:xfrm>
              <a:off x="839968" y="5970666"/>
              <a:ext cx="181417" cy="181417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84C79C62-2227-7285-EDC2-25332EE59EBB}"/>
                </a:ext>
              </a:extLst>
            </p:cNvPr>
            <p:cNvSpPr/>
            <p:nvPr/>
          </p:nvSpPr>
          <p:spPr>
            <a:xfrm>
              <a:off x="640080" y="9326880"/>
              <a:ext cx="365760" cy="365760"/>
            </a:xfrm>
            <a:prstGeom prst="ellipse">
              <a:avLst/>
            </a:prstGeom>
            <a:ln w="19050">
              <a:solidFill>
                <a:srgbClr val="3A5E74"/>
              </a:solidFill>
              <a:prstDash val="solid"/>
            </a:ln>
          </p:spPr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CDFFBA3F-86CE-33A8-716B-B84171DBB4D4}"/>
                </a:ext>
              </a:extLst>
            </p:cNvPr>
            <p:cNvSpPr/>
            <p:nvPr/>
          </p:nvSpPr>
          <p:spPr>
            <a:xfrm>
              <a:off x="640080" y="93177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E8EA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?</a:t>
              </a:r>
              <a:endParaRPr lang="en-US" sz="1500" dirty="0"/>
            </a:p>
          </p:txBody>
        </p:sp>
      </p:grpSp>
      <p:sp>
        <p:nvSpPr>
          <p:cNvPr id="114" name="Shape 112">
            <a:extLst>
              <a:ext uri="{FF2B5EF4-FFF2-40B4-BE49-F238E27FC236}">
                <a16:creationId xmlns:a16="http://schemas.microsoft.com/office/drawing/2014/main" id="{8DD70620-CE08-0A50-2BBF-916A94ABC1A5}"/>
              </a:ext>
            </a:extLst>
          </p:cNvPr>
          <p:cNvSpPr/>
          <p:nvPr/>
        </p:nvSpPr>
        <p:spPr>
          <a:xfrm>
            <a:off x="1297800" y="3389611"/>
            <a:ext cx="9422337" cy="3452287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86E8A9A0-5323-4FF6-E76C-FA483C8202A1}"/>
              </a:ext>
            </a:extLst>
          </p:cNvPr>
          <p:cNvSpPr/>
          <p:nvPr/>
        </p:nvSpPr>
        <p:spPr>
          <a:xfrm>
            <a:off x="1456616" y="3534471"/>
            <a:ext cx="90214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Shipment Value Trend Over Time</a:t>
            </a:r>
          </a:p>
        </p:txBody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35300650-2E82-A0E4-52AA-6D98EB45A331}"/>
              </a:ext>
            </a:extLst>
          </p:cNvPr>
          <p:cNvSpPr/>
          <p:nvPr/>
        </p:nvSpPr>
        <p:spPr>
          <a:xfrm>
            <a:off x="10834495" y="3389611"/>
            <a:ext cx="7242586" cy="3452400"/>
          </a:xfrm>
          <a:prstGeom prst="roundRect">
            <a:avLst>
              <a:gd name="adj" fmla="val 244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34" name="Text 132">
            <a:extLst>
              <a:ext uri="{FF2B5EF4-FFF2-40B4-BE49-F238E27FC236}">
                <a16:creationId xmlns:a16="http://schemas.microsoft.com/office/drawing/2014/main" id="{F5F1F0C6-861C-5D3A-83C9-9A696D7A5C49}"/>
              </a:ext>
            </a:extLst>
          </p:cNvPr>
          <p:cNvSpPr/>
          <p:nvPr/>
        </p:nvSpPr>
        <p:spPr>
          <a:xfrm>
            <a:off x="11105157" y="3534470"/>
            <a:ext cx="6687433" cy="367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Trade Flow by Destination Country</a:t>
            </a:r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DE454FC4-8F81-946F-E6F1-D60405D0B2B9}"/>
              </a:ext>
            </a:extLst>
          </p:cNvPr>
          <p:cNvSpPr/>
          <p:nvPr/>
        </p:nvSpPr>
        <p:spPr>
          <a:xfrm>
            <a:off x="11353227" y="7032814"/>
            <a:ext cx="6723855" cy="3124800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45" name="Text 143">
            <a:extLst>
              <a:ext uri="{FF2B5EF4-FFF2-40B4-BE49-F238E27FC236}">
                <a16:creationId xmlns:a16="http://schemas.microsoft.com/office/drawing/2014/main" id="{8D6E314E-769D-5843-AC1F-6B23942C9703}"/>
              </a:ext>
            </a:extLst>
          </p:cNvPr>
          <p:cNvSpPr/>
          <p:nvPr/>
        </p:nvSpPr>
        <p:spPr>
          <a:xfrm>
            <a:off x="11529524" y="7117513"/>
            <a:ext cx="60959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Shipment Value by Product Category</a:t>
            </a:r>
          </a:p>
        </p:txBody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1BD67DFB-961F-F43D-CFE5-1166A7F94223}"/>
              </a:ext>
            </a:extLst>
          </p:cNvPr>
          <p:cNvSpPr/>
          <p:nvPr/>
        </p:nvSpPr>
        <p:spPr>
          <a:xfrm>
            <a:off x="1356376" y="7032814"/>
            <a:ext cx="4819836" cy="3124800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</p:sp>
      <p:sp>
        <p:nvSpPr>
          <p:cNvPr id="156" name="Text 154">
            <a:extLst>
              <a:ext uri="{FF2B5EF4-FFF2-40B4-BE49-F238E27FC236}">
                <a16:creationId xmlns:a16="http://schemas.microsoft.com/office/drawing/2014/main" id="{72BCE96D-CBC5-7CA8-2FCE-09B032065691}"/>
              </a:ext>
            </a:extLst>
          </p:cNvPr>
          <p:cNvSpPr/>
          <p:nvPr/>
        </p:nvSpPr>
        <p:spPr>
          <a:xfrm>
            <a:off x="1467735" y="7117513"/>
            <a:ext cx="37939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On-Time vs Delayed Shipments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786BC9-5432-5CB4-378B-A1A4431EEC84}"/>
              </a:ext>
            </a:extLst>
          </p:cNvPr>
          <p:cNvGrpSpPr/>
          <p:nvPr/>
        </p:nvGrpSpPr>
        <p:grpSpPr>
          <a:xfrm>
            <a:off x="1294827" y="347472"/>
            <a:ext cx="10972800" cy="676656"/>
            <a:chOff x="1691640" y="347472"/>
            <a:chExt cx="10972800" cy="676656"/>
          </a:xfrm>
        </p:grpSpPr>
        <p:sp>
          <p:nvSpPr>
            <p:cNvPr id="3" name="Text 3">
              <a:extLst>
                <a:ext uri="{FF2B5EF4-FFF2-40B4-BE49-F238E27FC236}">
                  <a16:creationId xmlns:a16="http://schemas.microsoft.com/office/drawing/2014/main" id="{416286C8-B8DF-D538-BA0A-DD8A34C49C39}"/>
                </a:ext>
              </a:extLst>
            </p:cNvPr>
            <p:cNvSpPr/>
            <p:nvPr/>
          </p:nvSpPr>
          <p:spPr>
            <a:xfrm>
              <a:off x="1691640" y="347472"/>
              <a:ext cx="10058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>
                      <a:lumMod val="75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Shipment &amp; Trade Flow</a:t>
              </a:r>
              <a:endParaRPr lang="en-US" sz="28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B407DCE2-A175-DE03-2FB9-6BCBC91B1350}"/>
                </a:ext>
              </a:extLst>
            </p:cNvPr>
            <p:cNvSpPr/>
            <p:nvPr/>
          </p:nvSpPr>
          <p:spPr>
            <a:xfrm>
              <a:off x="1691640" y="749808"/>
              <a:ext cx="10972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tabLst>
                  <a:tab pos="4210050" algn="l"/>
                </a:tabLst>
              </a:pPr>
              <a:r>
                <a:rPr lang="en-US" sz="1600" dirty="0">
                  <a:solidFill>
                    <a:schemeClr val="tx2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Where is freight moving, and is it arriving on time and on budget?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87080B8-D192-C0F3-0058-C396CA36B887}"/>
              </a:ext>
            </a:extLst>
          </p:cNvPr>
          <p:cNvGrpSpPr/>
          <p:nvPr/>
        </p:nvGrpSpPr>
        <p:grpSpPr>
          <a:xfrm>
            <a:off x="14232373" y="1251264"/>
            <a:ext cx="365760" cy="365760"/>
            <a:chOff x="14054328" y="1545336"/>
            <a:chExt cx="365760" cy="365760"/>
          </a:xfrm>
        </p:grpSpPr>
        <p:sp>
          <p:nvSpPr>
            <p:cNvPr id="77" name="Shape 75">
              <a:extLst>
                <a:ext uri="{FF2B5EF4-FFF2-40B4-BE49-F238E27FC236}">
                  <a16:creationId xmlns:a16="http://schemas.microsoft.com/office/drawing/2014/main" id="{8E2144D9-A1E5-F207-9AE6-4377FC981DD9}"/>
                </a:ext>
              </a:extLst>
            </p:cNvPr>
            <p:cNvSpPr/>
            <p:nvPr/>
          </p:nvSpPr>
          <p:spPr>
            <a:xfrm>
              <a:off x="14054328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78" name="Shape 76">
              <a:extLst>
                <a:ext uri="{FF2B5EF4-FFF2-40B4-BE49-F238E27FC236}">
                  <a16:creationId xmlns:a16="http://schemas.microsoft.com/office/drawing/2014/main" id="{FE82AB55-DB95-4C0E-D633-80CA6D39AE5F}"/>
                </a:ext>
              </a:extLst>
            </p:cNvPr>
            <p:cNvSpPr/>
            <p:nvPr/>
          </p:nvSpPr>
          <p:spPr>
            <a:xfrm>
              <a:off x="14134795" y="1625803"/>
              <a:ext cx="204826" cy="204826"/>
            </a:xfrm>
            <a:prstGeom prst="ellipse">
              <a:avLst/>
            </a:prstGeom>
            <a:ln w="30480">
              <a:solidFill>
                <a:srgbClr val="FFFFFF"/>
              </a:solidFill>
              <a:prstDash val="solid"/>
            </a:ln>
          </p:spPr>
        </p:sp>
        <p:sp>
          <p:nvSpPr>
            <p:cNvPr id="79" name="Shape 77">
              <a:extLst>
                <a:ext uri="{FF2B5EF4-FFF2-40B4-BE49-F238E27FC236}">
                  <a16:creationId xmlns:a16="http://schemas.microsoft.com/office/drawing/2014/main" id="{219683F5-E45E-92A2-0051-00C9BF001A3E}"/>
                </a:ext>
              </a:extLst>
            </p:cNvPr>
            <p:cNvSpPr/>
            <p:nvPr/>
          </p:nvSpPr>
          <p:spPr>
            <a:xfrm>
              <a:off x="14232636" y="1666768"/>
              <a:ext cx="9144" cy="61448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  <p:sp>
          <p:nvSpPr>
            <p:cNvPr id="80" name="Shape 78">
              <a:extLst>
                <a:ext uri="{FF2B5EF4-FFF2-40B4-BE49-F238E27FC236}">
                  <a16:creationId xmlns:a16="http://schemas.microsoft.com/office/drawing/2014/main" id="{C48ED925-4DE3-09E4-8EB6-A2313B8BC6FC}"/>
                </a:ext>
              </a:extLst>
            </p:cNvPr>
            <p:cNvSpPr/>
            <p:nvPr/>
          </p:nvSpPr>
          <p:spPr>
            <a:xfrm>
              <a:off x="14237208" y="1723644"/>
              <a:ext cx="49158" cy="9144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6E1B840-6888-439D-46D5-6F5A3AFBF91A}"/>
              </a:ext>
            </a:extLst>
          </p:cNvPr>
          <p:cNvGrpSpPr/>
          <p:nvPr/>
        </p:nvGrpSpPr>
        <p:grpSpPr>
          <a:xfrm>
            <a:off x="4038739" y="1238771"/>
            <a:ext cx="365760" cy="365760"/>
            <a:chOff x="4233672" y="1545336"/>
            <a:chExt cx="365760" cy="365760"/>
          </a:xfrm>
        </p:grpSpPr>
        <p:sp>
          <p:nvSpPr>
            <p:cNvPr id="72" name="Shape 24">
              <a:extLst>
                <a:ext uri="{FF2B5EF4-FFF2-40B4-BE49-F238E27FC236}">
                  <a16:creationId xmlns:a16="http://schemas.microsoft.com/office/drawing/2014/main" id="{7450A303-9300-3DEF-E975-E7C089C49C5B}"/>
                </a:ext>
              </a:extLst>
            </p:cNvPr>
            <p:cNvSpPr/>
            <p:nvPr/>
          </p:nvSpPr>
          <p:spPr>
            <a:xfrm>
              <a:off x="4233672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73" name="Text 25">
              <a:extLst>
                <a:ext uri="{FF2B5EF4-FFF2-40B4-BE49-F238E27FC236}">
                  <a16:creationId xmlns:a16="http://schemas.microsoft.com/office/drawing/2014/main" id="{96C7A2F9-2F1B-19E1-D831-75006008D8F3}"/>
                </a:ext>
              </a:extLst>
            </p:cNvPr>
            <p:cNvSpPr/>
            <p:nvPr/>
          </p:nvSpPr>
          <p:spPr>
            <a:xfrm>
              <a:off x="4233672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</a:t>
              </a:r>
              <a:endParaRPr lang="en-US" sz="16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605E8A3-7030-A43C-5FF2-D7FEB81DFC19}"/>
              </a:ext>
            </a:extLst>
          </p:cNvPr>
          <p:cNvGrpSpPr/>
          <p:nvPr/>
        </p:nvGrpSpPr>
        <p:grpSpPr>
          <a:xfrm>
            <a:off x="7436617" y="1238771"/>
            <a:ext cx="365760" cy="365760"/>
            <a:chOff x="7507224" y="1545336"/>
            <a:chExt cx="365760" cy="365760"/>
          </a:xfrm>
        </p:grpSpPr>
        <p:sp>
          <p:nvSpPr>
            <p:cNvPr id="67" name="Shape 41">
              <a:extLst>
                <a:ext uri="{FF2B5EF4-FFF2-40B4-BE49-F238E27FC236}">
                  <a16:creationId xmlns:a16="http://schemas.microsoft.com/office/drawing/2014/main" id="{BE464BE7-E814-A4C5-64E4-C42D3BDD6CC0}"/>
                </a:ext>
              </a:extLst>
            </p:cNvPr>
            <p:cNvSpPr/>
            <p:nvPr/>
          </p:nvSpPr>
          <p:spPr>
            <a:xfrm>
              <a:off x="7507224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68" name="Shape 42">
              <a:extLst>
                <a:ext uri="{FF2B5EF4-FFF2-40B4-BE49-F238E27FC236}">
                  <a16:creationId xmlns:a16="http://schemas.microsoft.com/office/drawing/2014/main" id="{F715831F-1DDB-D52F-E57B-E6DC8DDC42DC}"/>
                </a:ext>
              </a:extLst>
            </p:cNvPr>
            <p:cNvSpPr/>
            <p:nvPr/>
          </p:nvSpPr>
          <p:spPr>
            <a:xfrm>
              <a:off x="7565746" y="1677010"/>
              <a:ext cx="153619" cy="87782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69" name="Shape 43">
              <a:extLst>
                <a:ext uri="{FF2B5EF4-FFF2-40B4-BE49-F238E27FC236}">
                  <a16:creationId xmlns:a16="http://schemas.microsoft.com/office/drawing/2014/main" id="{394678B5-B8A0-F675-4B5D-115617EE22EB}"/>
                </a:ext>
              </a:extLst>
            </p:cNvPr>
            <p:cNvSpPr/>
            <p:nvPr/>
          </p:nvSpPr>
          <p:spPr>
            <a:xfrm>
              <a:off x="7719365" y="1691640"/>
              <a:ext cx="73152" cy="73152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70" name="Shape 44">
              <a:extLst>
                <a:ext uri="{FF2B5EF4-FFF2-40B4-BE49-F238E27FC236}">
                  <a16:creationId xmlns:a16="http://schemas.microsoft.com/office/drawing/2014/main" id="{86CA5084-1699-AA9C-2FC9-6B93CA47366A}"/>
                </a:ext>
              </a:extLst>
            </p:cNvPr>
            <p:cNvSpPr/>
            <p:nvPr/>
          </p:nvSpPr>
          <p:spPr>
            <a:xfrm>
              <a:off x="7595006" y="1757477"/>
              <a:ext cx="43891" cy="43891"/>
            </a:xfrm>
            <a:prstGeom prst="ellipse">
              <a:avLst/>
            </a:prstGeom>
            <a:solidFill>
              <a:srgbClr val="3E8A9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71" name="Shape 45">
              <a:extLst>
                <a:ext uri="{FF2B5EF4-FFF2-40B4-BE49-F238E27FC236}">
                  <a16:creationId xmlns:a16="http://schemas.microsoft.com/office/drawing/2014/main" id="{C6660D4A-D4AD-0445-9C74-55AC4275B3B5}"/>
                </a:ext>
              </a:extLst>
            </p:cNvPr>
            <p:cNvSpPr/>
            <p:nvPr/>
          </p:nvSpPr>
          <p:spPr>
            <a:xfrm>
              <a:off x="7719365" y="1757477"/>
              <a:ext cx="43891" cy="43891"/>
            </a:xfrm>
            <a:prstGeom prst="ellipse">
              <a:avLst/>
            </a:prstGeom>
            <a:solidFill>
              <a:srgbClr val="3E8A96"/>
            </a:solidFill>
            <a:ln w="19050">
              <a:solidFill>
                <a:srgbClr val="FFFFFF"/>
              </a:solidFill>
              <a:prstDash val="solid"/>
            </a:ln>
          </p:spPr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80E2E9-64A1-65FD-341B-F16E841D4397}"/>
              </a:ext>
            </a:extLst>
          </p:cNvPr>
          <p:cNvGrpSpPr/>
          <p:nvPr/>
        </p:nvGrpSpPr>
        <p:grpSpPr>
          <a:xfrm>
            <a:off x="10834495" y="1238771"/>
            <a:ext cx="365760" cy="365760"/>
            <a:chOff x="10780776" y="1545336"/>
            <a:chExt cx="365760" cy="365760"/>
          </a:xfrm>
        </p:grpSpPr>
        <p:sp>
          <p:nvSpPr>
            <p:cNvPr id="64" name="Shape 61">
              <a:extLst>
                <a:ext uri="{FF2B5EF4-FFF2-40B4-BE49-F238E27FC236}">
                  <a16:creationId xmlns:a16="http://schemas.microsoft.com/office/drawing/2014/main" id="{F62D51E6-F6ED-865A-421B-F57593640A1C}"/>
                </a:ext>
              </a:extLst>
            </p:cNvPr>
            <p:cNvSpPr/>
            <p:nvPr/>
          </p:nvSpPr>
          <p:spPr>
            <a:xfrm>
              <a:off x="10780776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65" name="Shape 62">
              <a:extLst>
                <a:ext uri="{FF2B5EF4-FFF2-40B4-BE49-F238E27FC236}">
                  <a16:creationId xmlns:a16="http://schemas.microsoft.com/office/drawing/2014/main" id="{96285546-A6DA-503F-25C6-303745E16F50}"/>
                </a:ext>
              </a:extLst>
            </p:cNvPr>
            <p:cNvSpPr/>
            <p:nvPr/>
          </p:nvSpPr>
          <p:spPr>
            <a:xfrm>
              <a:off x="10883189" y="1735531"/>
              <a:ext cx="58522" cy="58522"/>
            </a:xfrm>
            <a:prstGeom prst="line">
              <a:avLst/>
            </a:prstGeom>
            <a:noFill/>
            <a:ln w="34925">
              <a:solidFill>
                <a:srgbClr val="FFFFFF"/>
              </a:solidFill>
              <a:prstDash val="solid"/>
            </a:ln>
          </p:spPr>
        </p:sp>
        <p:sp>
          <p:nvSpPr>
            <p:cNvPr id="66" name="Shape 63">
              <a:extLst>
                <a:ext uri="{FF2B5EF4-FFF2-40B4-BE49-F238E27FC236}">
                  <a16:creationId xmlns:a16="http://schemas.microsoft.com/office/drawing/2014/main" id="{DD832CB6-906B-A62E-8074-086B28C6E1CC}"/>
                </a:ext>
              </a:extLst>
            </p:cNvPr>
            <p:cNvSpPr/>
            <p:nvPr/>
          </p:nvSpPr>
          <p:spPr>
            <a:xfrm flipV="1">
              <a:off x="10941710" y="1662379"/>
              <a:ext cx="109728" cy="131674"/>
            </a:xfrm>
            <a:prstGeom prst="line">
              <a:avLst/>
            </a:prstGeom>
            <a:noFill/>
            <a:ln w="34925">
              <a:solidFill>
                <a:srgbClr val="FFFFFF"/>
              </a:solidFill>
              <a:prstDash val="solid"/>
            </a:ln>
          </p:spPr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DE1A0EA-4F23-D217-8726-52B3588FE91A}"/>
              </a:ext>
            </a:extLst>
          </p:cNvPr>
          <p:cNvGrpSpPr/>
          <p:nvPr/>
        </p:nvGrpSpPr>
        <p:grpSpPr>
          <a:xfrm>
            <a:off x="17630249" y="1238771"/>
            <a:ext cx="365760" cy="365760"/>
            <a:chOff x="17327880" y="1545336"/>
            <a:chExt cx="365760" cy="365760"/>
          </a:xfrm>
        </p:grpSpPr>
        <p:sp>
          <p:nvSpPr>
            <p:cNvPr id="55" name="Shape 98">
              <a:extLst>
                <a:ext uri="{FF2B5EF4-FFF2-40B4-BE49-F238E27FC236}">
                  <a16:creationId xmlns:a16="http://schemas.microsoft.com/office/drawing/2014/main" id="{CB45EFEA-E137-4F5C-254D-CA34C494F1EF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56" name="Text 99">
              <a:extLst>
                <a:ext uri="{FF2B5EF4-FFF2-40B4-BE49-F238E27FC236}">
                  <a16:creationId xmlns:a16="http://schemas.microsoft.com/office/drawing/2014/main" id="{01609087-B1EE-8487-7C3F-F62CDC3CFF3C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</a:t>
              </a:r>
              <a:endParaRPr lang="en-US" sz="1600" dirty="0"/>
            </a:p>
          </p:txBody>
        </p:sp>
      </p:grpSp>
      <p:sp>
        <p:nvSpPr>
          <p:cNvPr id="81" name="Shape 146">
            <a:extLst>
              <a:ext uri="{FF2B5EF4-FFF2-40B4-BE49-F238E27FC236}">
                <a16:creationId xmlns:a16="http://schemas.microsoft.com/office/drawing/2014/main" id="{D1D197C2-E15C-77EA-8BC7-54F3B45AD312}"/>
              </a:ext>
            </a:extLst>
          </p:cNvPr>
          <p:cNvSpPr/>
          <p:nvPr/>
        </p:nvSpPr>
        <p:spPr>
          <a:xfrm>
            <a:off x="6353599" y="7006490"/>
            <a:ext cx="4819836" cy="3124800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</p:sp>
      <p:sp>
        <p:nvSpPr>
          <p:cNvPr id="84" name="Text 154">
            <a:extLst>
              <a:ext uri="{FF2B5EF4-FFF2-40B4-BE49-F238E27FC236}">
                <a16:creationId xmlns:a16="http://schemas.microsoft.com/office/drawing/2014/main" id="{E7E1FC57-F179-25DF-991D-5CA9A70FC7B1}"/>
              </a:ext>
            </a:extLst>
          </p:cNvPr>
          <p:cNvSpPr/>
          <p:nvPr/>
        </p:nvSpPr>
        <p:spPr>
          <a:xfrm>
            <a:off x="6464958" y="7117513"/>
            <a:ext cx="37939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/>
              <a:t>Market Type by Shipments Value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2AE81D47-EE6E-8A96-4C40-F627B6FD3E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564578" y="468403"/>
            <a:ext cx="425933" cy="4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7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663EA-8F68-522E-71AF-C10893A72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146">
            <a:extLst>
              <a:ext uri="{FF2B5EF4-FFF2-40B4-BE49-F238E27FC236}">
                <a16:creationId xmlns:a16="http://schemas.microsoft.com/office/drawing/2014/main" id="{B381112A-6202-0B68-7F28-AF701B413023}"/>
              </a:ext>
            </a:extLst>
          </p:cNvPr>
          <p:cNvSpPr/>
          <p:nvPr/>
        </p:nvSpPr>
        <p:spPr>
          <a:xfrm>
            <a:off x="13133809" y="3389611"/>
            <a:ext cx="4943273" cy="3124800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EDE48A2-122D-4F90-9C7B-1926984A127B}"/>
              </a:ext>
            </a:extLst>
          </p:cNvPr>
          <p:cNvGrpSpPr/>
          <p:nvPr/>
        </p:nvGrpSpPr>
        <p:grpSpPr>
          <a:xfrm>
            <a:off x="1297800" y="1158006"/>
            <a:ext cx="16779282" cy="2040689"/>
            <a:chOff x="1297800" y="1158006"/>
            <a:chExt cx="16779282" cy="2040689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3A016C61-183B-5E61-0D8C-4F505271DA76}"/>
                </a:ext>
              </a:extLst>
            </p:cNvPr>
            <p:cNvSpPr/>
            <p:nvPr/>
          </p:nvSpPr>
          <p:spPr>
            <a:xfrm>
              <a:off x="1297800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7C656EFA-EF2D-F111-3FC1-349A95E1AB6C}"/>
                </a:ext>
              </a:extLst>
            </p:cNvPr>
            <p:cNvSpPr/>
            <p:nvPr/>
          </p:nvSpPr>
          <p:spPr>
            <a:xfrm>
              <a:off x="4692887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2FEB9A2F-4C5B-BB50-D7E6-B8F0F39BD330}"/>
                </a:ext>
              </a:extLst>
            </p:cNvPr>
            <p:cNvSpPr/>
            <p:nvPr/>
          </p:nvSpPr>
          <p:spPr>
            <a:xfrm>
              <a:off x="8087974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76" name="Shape 74">
              <a:extLst>
                <a:ext uri="{FF2B5EF4-FFF2-40B4-BE49-F238E27FC236}">
                  <a16:creationId xmlns:a16="http://schemas.microsoft.com/office/drawing/2014/main" id="{6332433C-9936-4188-91D1-A55006599577}"/>
                </a:ext>
              </a:extLst>
            </p:cNvPr>
            <p:cNvSpPr/>
            <p:nvPr/>
          </p:nvSpPr>
          <p:spPr>
            <a:xfrm>
              <a:off x="11483061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95" name="Shape 93">
              <a:extLst>
                <a:ext uri="{FF2B5EF4-FFF2-40B4-BE49-F238E27FC236}">
                  <a16:creationId xmlns:a16="http://schemas.microsoft.com/office/drawing/2014/main" id="{BA664527-9BAA-1204-C4C5-76746B4F623E}"/>
                </a:ext>
              </a:extLst>
            </p:cNvPr>
            <p:cNvSpPr/>
            <p:nvPr/>
          </p:nvSpPr>
          <p:spPr>
            <a:xfrm>
              <a:off x="14873082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89" name="Shape 23">
              <a:extLst>
                <a:ext uri="{FF2B5EF4-FFF2-40B4-BE49-F238E27FC236}">
                  <a16:creationId xmlns:a16="http://schemas.microsoft.com/office/drawing/2014/main" id="{E73CB0D2-5F58-F1AC-F205-32A5F99EC8E4}"/>
                </a:ext>
              </a:extLst>
            </p:cNvPr>
            <p:cNvSpPr/>
            <p:nvPr/>
          </p:nvSpPr>
          <p:spPr>
            <a:xfrm>
              <a:off x="129780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0" name="Shape 23">
              <a:extLst>
                <a:ext uri="{FF2B5EF4-FFF2-40B4-BE49-F238E27FC236}">
                  <a16:creationId xmlns:a16="http://schemas.microsoft.com/office/drawing/2014/main" id="{7EB22449-89D8-AAA4-A1DF-700273C1F81F}"/>
                </a:ext>
              </a:extLst>
            </p:cNvPr>
            <p:cNvSpPr/>
            <p:nvPr/>
          </p:nvSpPr>
          <p:spPr>
            <a:xfrm>
              <a:off x="470093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1" name="Shape 23">
              <a:extLst>
                <a:ext uri="{FF2B5EF4-FFF2-40B4-BE49-F238E27FC236}">
                  <a16:creationId xmlns:a16="http://schemas.microsoft.com/office/drawing/2014/main" id="{4D19908F-7654-888A-FB43-CECEE3EFEABC}"/>
                </a:ext>
              </a:extLst>
            </p:cNvPr>
            <p:cNvSpPr/>
            <p:nvPr/>
          </p:nvSpPr>
          <p:spPr>
            <a:xfrm>
              <a:off x="810406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2" name="Shape 23">
              <a:extLst>
                <a:ext uri="{FF2B5EF4-FFF2-40B4-BE49-F238E27FC236}">
                  <a16:creationId xmlns:a16="http://schemas.microsoft.com/office/drawing/2014/main" id="{9A72E233-6C80-5000-C79D-AEF12DCDAF09}"/>
                </a:ext>
              </a:extLst>
            </p:cNvPr>
            <p:cNvSpPr/>
            <p:nvPr/>
          </p:nvSpPr>
          <p:spPr>
            <a:xfrm>
              <a:off x="1150719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3" name="Shape 23">
              <a:extLst>
                <a:ext uri="{FF2B5EF4-FFF2-40B4-BE49-F238E27FC236}">
                  <a16:creationId xmlns:a16="http://schemas.microsoft.com/office/drawing/2014/main" id="{F8B17A8D-B9AC-85A4-66BD-4448A104AC9D}"/>
                </a:ext>
              </a:extLst>
            </p:cNvPr>
            <p:cNvSpPr/>
            <p:nvPr/>
          </p:nvSpPr>
          <p:spPr>
            <a:xfrm>
              <a:off x="14873082" y="2533726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449E2AC-F8D3-ABC7-0892-1456E363FD8A}"/>
              </a:ext>
            </a:extLst>
          </p:cNvPr>
          <p:cNvGrpSpPr/>
          <p:nvPr/>
        </p:nvGrpSpPr>
        <p:grpSpPr>
          <a:xfrm>
            <a:off x="113004" y="312966"/>
            <a:ext cx="1005840" cy="9892773"/>
            <a:chOff x="320040" y="103517"/>
            <a:chExt cx="1005840" cy="10119475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D15C3ED6-9E37-59D7-0563-84C2F2CB2947}"/>
                </a:ext>
              </a:extLst>
            </p:cNvPr>
            <p:cNvSpPr/>
            <p:nvPr/>
          </p:nvSpPr>
          <p:spPr>
            <a:xfrm>
              <a:off x="320040" y="103517"/>
              <a:ext cx="1005840" cy="10119475"/>
            </a:xfrm>
            <a:prstGeom prst="roundRect">
              <a:avLst>
                <a:gd name="adj" fmla="val 13551"/>
              </a:avLst>
            </a:prstGeom>
            <a:solidFill>
              <a:srgbClr val="14324A"/>
            </a:solidFill>
            <a:ln/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AA1314C8-85B3-EDC6-8D06-CEA3D5EF8D20}"/>
                </a:ext>
              </a:extLst>
            </p:cNvPr>
            <p:cNvSpPr/>
            <p:nvPr/>
          </p:nvSpPr>
          <p:spPr>
            <a:xfrm>
              <a:off x="539496" y="4032504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0170E5F9-0977-9F7E-EA82-D059436E1B57}"/>
                </a:ext>
              </a:extLst>
            </p:cNvPr>
            <p:cNvSpPr/>
            <p:nvPr/>
          </p:nvSpPr>
          <p:spPr>
            <a:xfrm>
              <a:off x="732252" y="4100535"/>
              <a:ext cx="181417" cy="181417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06EDA3B9-407D-710D-3340-C02B9F0F7E0B}"/>
                </a:ext>
              </a:extLst>
            </p:cNvPr>
            <p:cNvSpPr/>
            <p:nvPr/>
          </p:nvSpPr>
          <p:spPr>
            <a:xfrm>
              <a:off x="652882" y="4315968"/>
              <a:ext cx="340157" cy="192756"/>
            </a:xfrm>
            <a:prstGeom prst="roundRect">
              <a:avLst>
                <a:gd name="adj" fmla="val 40000"/>
              </a:avLst>
            </a:prstGeom>
            <a:solidFill>
              <a:srgbClr val="AFC6CE"/>
            </a:solidFill>
            <a:ln/>
          </p:spPr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1D7974FF-5916-8728-C674-C5D6B642E903}"/>
                </a:ext>
              </a:extLst>
            </p:cNvPr>
            <p:cNvSpPr/>
            <p:nvPr/>
          </p:nvSpPr>
          <p:spPr>
            <a:xfrm>
              <a:off x="539496" y="4837176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A1EFF3F1-FB77-5181-3E92-372977F3EE96}"/>
                </a:ext>
              </a:extLst>
            </p:cNvPr>
            <p:cNvSpPr/>
            <p:nvPr/>
          </p:nvSpPr>
          <p:spPr>
            <a:xfrm>
              <a:off x="596189" y="5052609"/>
              <a:ext cx="283464" cy="158740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6E475E99-4CA5-30BA-4377-B2564A9CDB80}"/>
                </a:ext>
              </a:extLst>
            </p:cNvPr>
            <p:cNvSpPr/>
            <p:nvPr/>
          </p:nvSpPr>
          <p:spPr>
            <a:xfrm>
              <a:off x="879653" y="5086624"/>
              <a:ext cx="136063" cy="124724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94B5A4CD-150C-45AB-F4F2-02CA6C57EEEE}"/>
                </a:ext>
              </a:extLst>
            </p:cNvPr>
            <p:cNvSpPr/>
            <p:nvPr/>
          </p:nvSpPr>
          <p:spPr>
            <a:xfrm>
              <a:off x="652882" y="5200010"/>
              <a:ext cx="79370" cy="79370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AEDAEAFB-A7FA-5AD6-ED3E-44B638C23D29}"/>
                </a:ext>
              </a:extLst>
            </p:cNvPr>
            <p:cNvSpPr/>
            <p:nvPr/>
          </p:nvSpPr>
          <p:spPr>
            <a:xfrm>
              <a:off x="868314" y="5200010"/>
              <a:ext cx="79370" cy="79370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40A60401-C00F-4D8F-8393-BD6A266A5ADD}"/>
                </a:ext>
              </a:extLst>
            </p:cNvPr>
            <p:cNvSpPr/>
            <p:nvPr/>
          </p:nvSpPr>
          <p:spPr>
            <a:xfrm>
              <a:off x="539496" y="5641848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E8734A"/>
            </a:solidFill>
            <a:ln/>
          </p:spPr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387D4B07-A596-FC06-7AD6-A6EF2DB93B7E}"/>
                </a:ext>
              </a:extLst>
            </p:cNvPr>
            <p:cNvSpPr/>
            <p:nvPr/>
          </p:nvSpPr>
          <p:spPr>
            <a:xfrm>
              <a:off x="624535" y="5755234"/>
              <a:ext cx="181417" cy="181417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EFFD8D94-7185-C163-B718-EC11509993C8}"/>
                </a:ext>
              </a:extLst>
            </p:cNvPr>
            <p:cNvSpPr/>
            <p:nvPr/>
          </p:nvSpPr>
          <p:spPr>
            <a:xfrm>
              <a:off x="839968" y="5755234"/>
              <a:ext cx="181417" cy="181417"/>
            </a:xfrm>
            <a:prstGeom prst="rect">
              <a:avLst/>
            </a:prstGeom>
            <a:noFill/>
            <a:ln w="25400">
              <a:solidFill>
                <a:srgbClr val="14324A"/>
              </a:solidFill>
              <a:prstDash val="solid"/>
            </a:ln>
          </p:spPr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90FD1A7B-AB0D-F7BD-1CF0-6DE9D92944F6}"/>
                </a:ext>
              </a:extLst>
            </p:cNvPr>
            <p:cNvSpPr/>
            <p:nvPr/>
          </p:nvSpPr>
          <p:spPr>
            <a:xfrm>
              <a:off x="624535" y="5970666"/>
              <a:ext cx="181417" cy="181417"/>
            </a:xfrm>
            <a:prstGeom prst="rect">
              <a:avLst/>
            </a:prstGeom>
            <a:noFill/>
            <a:ln w="25400">
              <a:solidFill>
                <a:srgbClr val="14324A"/>
              </a:solidFill>
              <a:prstDash val="solid"/>
            </a:ln>
          </p:spPr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D000BEB4-3A63-E036-C012-CEE338C06F32}"/>
                </a:ext>
              </a:extLst>
            </p:cNvPr>
            <p:cNvSpPr/>
            <p:nvPr/>
          </p:nvSpPr>
          <p:spPr>
            <a:xfrm>
              <a:off x="839968" y="5970666"/>
              <a:ext cx="181417" cy="181417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ADB770CE-C2ED-A727-6953-CFF05BD2181D}"/>
                </a:ext>
              </a:extLst>
            </p:cNvPr>
            <p:cNvSpPr/>
            <p:nvPr/>
          </p:nvSpPr>
          <p:spPr>
            <a:xfrm>
              <a:off x="640080" y="9326880"/>
              <a:ext cx="365760" cy="365760"/>
            </a:xfrm>
            <a:prstGeom prst="ellipse">
              <a:avLst/>
            </a:prstGeom>
            <a:ln w="19050">
              <a:solidFill>
                <a:srgbClr val="3A5E74"/>
              </a:solidFill>
              <a:prstDash val="solid"/>
            </a:ln>
          </p:spPr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A8D05491-4753-0DFC-59AD-D43F7AE68B80}"/>
                </a:ext>
              </a:extLst>
            </p:cNvPr>
            <p:cNvSpPr/>
            <p:nvPr/>
          </p:nvSpPr>
          <p:spPr>
            <a:xfrm>
              <a:off x="640080" y="93177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E8EA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?</a:t>
              </a:r>
              <a:endParaRPr lang="en-US" sz="150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C65A8CD-FE6F-0400-6BC9-ACFC45436A44}"/>
              </a:ext>
            </a:extLst>
          </p:cNvPr>
          <p:cNvGrpSpPr/>
          <p:nvPr/>
        </p:nvGrpSpPr>
        <p:grpSpPr>
          <a:xfrm>
            <a:off x="17628566" y="1251264"/>
            <a:ext cx="365760" cy="365760"/>
            <a:chOff x="17327880" y="1545336"/>
            <a:chExt cx="365760" cy="365760"/>
          </a:xfrm>
        </p:grpSpPr>
        <p:sp>
          <p:nvSpPr>
            <p:cNvPr id="96" name="Shape 94">
              <a:extLst>
                <a:ext uri="{FF2B5EF4-FFF2-40B4-BE49-F238E27FC236}">
                  <a16:creationId xmlns:a16="http://schemas.microsoft.com/office/drawing/2014/main" id="{DD5AA3A9-5F8E-30C9-F078-91F0717E9FA8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97" name="Shape 95">
              <a:extLst>
                <a:ext uri="{FF2B5EF4-FFF2-40B4-BE49-F238E27FC236}">
                  <a16:creationId xmlns:a16="http://schemas.microsoft.com/office/drawing/2014/main" id="{C48581C6-24B8-5107-262D-8B0549888086}"/>
                </a:ext>
              </a:extLst>
            </p:cNvPr>
            <p:cNvSpPr/>
            <p:nvPr/>
          </p:nvSpPr>
          <p:spPr>
            <a:xfrm>
              <a:off x="17404690" y="1633118"/>
              <a:ext cx="212141" cy="182441"/>
            </a:xfrm>
            <a:prstGeom prst="triangle">
              <a:avLst/>
            </a:prstGeom>
            <a:solidFill>
              <a:srgbClr val="FFFFFF"/>
            </a:solidFill>
            <a:ln/>
          </p:spPr>
        </p:sp>
        <p:sp>
          <p:nvSpPr>
            <p:cNvPr id="98" name="Shape 96">
              <a:extLst>
                <a:ext uri="{FF2B5EF4-FFF2-40B4-BE49-F238E27FC236}">
                  <a16:creationId xmlns:a16="http://schemas.microsoft.com/office/drawing/2014/main" id="{73D328DB-4057-FAB8-475C-29DD5FBFF8A8}"/>
                </a:ext>
              </a:extLst>
            </p:cNvPr>
            <p:cNvSpPr/>
            <p:nvPr/>
          </p:nvSpPr>
          <p:spPr>
            <a:xfrm>
              <a:off x="17500153" y="1685788"/>
              <a:ext cx="21214" cy="63642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99" name="Shape 97">
              <a:extLst>
                <a:ext uri="{FF2B5EF4-FFF2-40B4-BE49-F238E27FC236}">
                  <a16:creationId xmlns:a16="http://schemas.microsoft.com/office/drawing/2014/main" id="{4609C013-0FFF-6AC1-1A2B-7B1BEA428AC7}"/>
                </a:ext>
              </a:extLst>
            </p:cNvPr>
            <p:cNvSpPr/>
            <p:nvPr/>
          </p:nvSpPr>
          <p:spPr>
            <a:xfrm>
              <a:off x="17500153" y="1766401"/>
              <a:ext cx="21214" cy="21214"/>
            </a:xfrm>
            <a:prstGeom prst="ellipse">
              <a:avLst/>
            </a:prstGeom>
            <a:solidFill>
              <a:srgbClr val="14324A"/>
            </a:solidFill>
            <a:ln/>
          </p:spPr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9D178B01-134A-9B0F-CBA3-794D4B748728}"/>
              </a:ext>
            </a:extLst>
          </p:cNvPr>
          <p:cNvGrpSpPr/>
          <p:nvPr/>
        </p:nvGrpSpPr>
        <p:grpSpPr>
          <a:xfrm>
            <a:off x="1297800" y="6679003"/>
            <a:ext cx="16779282" cy="3452287"/>
            <a:chOff x="1645920" y="3383280"/>
            <a:chExt cx="16779282" cy="3452287"/>
          </a:xfrm>
        </p:grpSpPr>
        <p:sp>
          <p:nvSpPr>
            <p:cNvPr id="114" name="Shape 112">
              <a:extLst>
                <a:ext uri="{FF2B5EF4-FFF2-40B4-BE49-F238E27FC236}">
                  <a16:creationId xmlns:a16="http://schemas.microsoft.com/office/drawing/2014/main" id="{B70F9917-6674-C311-8A28-757EF9E1AFC2}"/>
                </a:ext>
              </a:extLst>
            </p:cNvPr>
            <p:cNvSpPr/>
            <p:nvPr/>
          </p:nvSpPr>
          <p:spPr>
            <a:xfrm>
              <a:off x="1645920" y="3383280"/>
              <a:ext cx="16779282" cy="3452287"/>
            </a:xfrm>
            <a:prstGeom prst="roundRect">
              <a:avLst>
                <a:gd name="adj" fmla="val 2158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  <p:txBody>
            <a:bodyPr/>
            <a:lstStyle/>
            <a:p>
              <a:endParaRPr lang="en-GB" dirty="0"/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7343ADD1-5BF3-6A7E-B172-4D22886C916F}"/>
                </a:ext>
              </a:extLst>
            </p:cNvPr>
            <p:cNvGrpSpPr/>
            <p:nvPr/>
          </p:nvGrpSpPr>
          <p:grpSpPr>
            <a:xfrm>
              <a:off x="1828800" y="3547872"/>
              <a:ext cx="1463040" cy="292608"/>
              <a:chOff x="1828800" y="3547872"/>
              <a:chExt cx="1463040" cy="292608"/>
            </a:xfrm>
          </p:grpSpPr>
          <p:sp>
            <p:nvSpPr>
              <p:cNvPr id="115" name="Shape 113">
                <a:extLst>
                  <a:ext uri="{FF2B5EF4-FFF2-40B4-BE49-F238E27FC236}">
                    <a16:creationId xmlns:a16="http://schemas.microsoft.com/office/drawing/2014/main" id="{2CB634F4-261A-527E-A1FF-CD9A59F816A7}"/>
                  </a:ext>
                </a:extLst>
              </p:cNvPr>
              <p:cNvSpPr/>
              <p:nvPr/>
            </p:nvSpPr>
            <p:spPr>
              <a:xfrm>
                <a:off x="1828800" y="3547872"/>
                <a:ext cx="1463040" cy="292608"/>
              </a:xfrm>
              <a:prstGeom prst="roundRect">
                <a:avLst>
                  <a:gd name="adj" fmla="val 50000"/>
                </a:avLst>
              </a:prstGeom>
              <a:solidFill>
                <a:srgbClr val="E4EFF1"/>
              </a:solidFill>
              <a:ln/>
            </p:spPr>
          </p:sp>
          <p:sp>
            <p:nvSpPr>
              <p:cNvPr id="116" name="Text 114">
                <a:extLst>
                  <a:ext uri="{FF2B5EF4-FFF2-40B4-BE49-F238E27FC236}">
                    <a16:creationId xmlns:a16="http://schemas.microsoft.com/office/drawing/2014/main" id="{2D433906-2D58-92ED-D592-5FCEB837CA37}"/>
                  </a:ext>
                </a:extLst>
              </p:cNvPr>
              <p:cNvSpPr/>
              <p:nvPr/>
            </p:nvSpPr>
            <p:spPr>
              <a:xfrm>
                <a:off x="1828800" y="3547872"/>
                <a:ext cx="146304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b="1" kern="0" spc="100" dirty="0">
                    <a:solidFill>
                      <a:srgbClr val="1432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TABLE</a:t>
                </a:r>
                <a:endParaRPr lang="en-US" sz="900" dirty="0"/>
              </a:p>
            </p:txBody>
          </p:sp>
        </p:grpSp>
        <p:sp>
          <p:nvSpPr>
            <p:cNvPr id="122" name="Text 120">
              <a:extLst>
                <a:ext uri="{FF2B5EF4-FFF2-40B4-BE49-F238E27FC236}">
                  <a16:creationId xmlns:a16="http://schemas.microsoft.com/office/drawing/2014/main" id="{F965D1EA-D520-F9DA-3C41-581038CAA252}"/>
                </a:ext>
              </a:extLst>
            </p:cNvPr>
            <p:cNvSpPr/>
            <p:nvPr/>
          </p:nvSpPr>
          <p:spPr>
            <a:xfrm>
              <a:off x="1828800" y="3877056"/>
              <a:ext cx="902147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GB" b="1" dirty="0"/>
                <a:t>Carrier and Orders Performance Summary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CE3C30C-4BB1-ABA0-CC11-AB01CF27F4FA}"/>
              </a:ext>
            </a:extLst>
          </p:cNvPr>
          <p:cNvGrpSpPr/>
          <p:nvPr/>
        </p:nvGrpSpPr>
        <p:grpSpPr>
          <a:xfrm>
            <a:off x="4034021" y="1255836"/>
            <a:ext cx="365760" cy="365760"/>
            <a:chOff x="4233672" y="1545336"/>
            <a:chExt cx="365760" cy="365760"/>
          </a:xfrm>
        </p:grpSpPr>
        <p:sp>
          <p:nvSpPr>
            <p:cNvPr id="50" name="Shape 24">
              <a:extLst>
                <a:ext uri="{FF2B5EF4-FFF2-40B4-BE49-F238E27FC236}">
                  <a16:creationId xmlns:a16="http://schemas.microsoft.com/office/drawing/2014/main" id="{FE1789B5-1C0C-FE6A-CDAA-24F79DC371B4}"/>
                </a:ext>
              </a:extLst>
            </p:cNvPr>
            <p:cNvSpPr/>
            <p:nvPr/>
          </p:nvSpPr>
          <p:spPr>
            <a:xfrm>
              <a:off x="4233672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51" name="Shape 25">
              <a:extLst>
                <a:ext uri="{FF2B5EF4-FFF2-40B4-BE49-F238E27FC236}">
                  <a16:creationId xmlns:a16="http://schemas.microsoft.com/office/drawing/2014/main" id="{B28A8318-5010-AAD2-B66F-4296DC16E7AC}"/>
                </a:ext>
              </a:extLst>
            </p:cNvPr>
            <p:cNvSpPr/>
            <p:nvPr/>
          </p:nvSpPr>
          <p:spPr>
            <a:xfrm>
              <a:off x="4292194" y="1677010"/>
              <a:ext cx="153619" cy="87782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52" name="Shape 26">
              <a:extLst>
                <a:ext uri="{FF2B5EF4-FFF2-40B4-BE49-F238E27FC236}">
                  <a16:creationId xmlns:a16="http://schemas.microsoft.com/office/drawing/2014/main" id="{DDE627CD-A7C5-4FE3-0BF9-F60683E58518}"/>
                </a:ext>
              </a:extLst>
            </p:cNvPr>
            <p:cNvSpPr/>
            <p:nvPr/>
          </p:nvSpPr>
          <p:spPr>
            <a:xfrm>
              <a:off x="4445813" y="1691640"/>
              <a:ext cx="73152" cy="73152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53" name="Shape 27">
              <a:extLst>
                <a:ext uri="{FF2B5EF4-FFF2-40B4-BE49-F238E27FC236}">
                  <a16:creationId xmlns:a16="http://schemas.microsoft.com/office/drawing/2014/main" id="{3BE9E89B-DEBC-E7FD-F518-D88771A8113B}"/>
                </a:ext>
              </a:extLst>
            </p:cNvPr>
            <p:cNvSpPr/>
            <p:nvPr/>
          </p:nvSpPr>
          <p:spPr>
            <a:xfrm>
              <a:off x="4321454" y="1757477"/>
              <a:ext cx="43891" cy="43891"/>
            </a:xfrm>
            <a:prstGeom prst="ellipse">
              <a:avLst/>
            </a:prstGeom>
            <a:solidFill>
              <a:srgbClr val="14324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4" name="Shape 28">
              <a:extLst>
                <a:ext uri="{FF2B5EF4-FFF2-40B4-BE49-F238E27FC236}">
                  <a16:creationId xmlns:a16="http://schemas.microsoft.com/office/drawing/2014/main" id="{8999F918-F359-BB86-6AA3-D7D11CC208DA}"/>
                </a:ext>
              </a:extLst>
            </p:cNvPr>
            <p:cNvSpPr/>
            <p:nvPr/>
          </p:nvSpPr>
          <p:spPr>
            <a:xfrm>
              <a:off x="4445813" y="1757477"/>
              <a:ext cx="43891" cy="43891"/>
            </a:xfrm>
            <a:prstGeom prst="ellipse">
              <a:avLst/>
            </a:prstGeom>
            <a:solidFill>
              <a:srgbClr val="14324A"/>
            </a:solidFill>
            <a:ln w="19050">
              <a:solidFill>
                <a:srgbClr val="FFFFFF"/>
              </a:solidFill>
              <a:prstDash val="solid"/>
            </a:ln>
          </p:spPr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4EF7BE0-ABC7-F84D-4341-E46790C7A8DB}"/>
              </a:ext>
            </a:extLst>
          </p:cNvPr>
          <p:cNvGrpSpPr/>
          <p:nvPr/>
        </p:nvGrpSpPr>
        <p:grpSpPr>
          <a:xfrm>
            <a:off x="1275726" y="3389611"/>
            <a:ext cx="6799925" cy="3124800"/>
            <a:chOff x="11234318" y="6341791"/>
            <a:chExt cx="7448086" cy="3124800"/>
          </a:xfrm>
        </p:grpSpPr>
        <p:sp>
          <p:nvSpPr>
            <p:cNvPr id="148" name="Shape 146">
              <a:extLst>
                <a:ext uri="{FF2B5EF4-FFF2-40B4-BE49-F238E27FC236}">
                  <a16:creationId xmlns:a16="http://schemas.microsoft.com/office/drawing/2014/main" id="{28C23D59-C319-C6A6-30A7-3B534263F68C}"/>
                </a:ext>
              </a:extLst>
            </p:cNvPr>
            <p:cNvSpPr/>
            <p:nvPr/>
          </p:nvSpPr>
          <p:spPr>
            <a:xfrm>
              <a:off x="11234318" y="6341791"/>
              <a:ext cx="7448086" cy="3124800"/>
            </a:xfrm>
            <a:prstGeom prst="roundRect">
              <a:avLst>
                <a:gd name="adj" fmla="val 2436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49" name="Shape 147">
              <a:extLst>
                <a:ext uri="{FF2B5EF4-FFF2-40B4-BE49-F238E27FC236}">
                  <a16:creationId xmlns:a16="http://schemas.microsoft.com/office/drawing/2014/main" id="{1B6E52AF-2DBE-E4D6-8B61-BB23A1CDE575}"/>
                </a:ext>
              </a:extLst>
            </p:cNvPr>
            <p:cNvSpPr/>
            <p:nvPr/>
          </p:nvSpPr>
          <p:spPr>
            <a:xfrm>
              <a:off x="11417198" y="6506383"/>
              <a:ext cx="1463040" cy="292608"/>
            </a:xfrm>
            <a:prstGeom prst="roundRect">
              <a:avLst>
                <a:gd name="adj" fmla="val 50000"/>
              </a:avLst>
            </a:prstGeom>
            <a:solidFill>
              <a:srgbClr val="E4EFF1"/>
            </a:solidFill>
            <a:ln/>
          </p:spPr>
        </p:sp>
        <p:sp>
          <p:nvSpPr>
            <p:cNvPr id="150" name="Text 148">
              <a:extLst>
                <a:ext uri="{FF2B5EF4-FFF2-40B4-BE49-F238E27FC236}">
                  <a16:creationId xmlns:a16="http://schemas.microsoft.com/office/drawing/2014/main" id="{B6FD95DF-015E-6B68-97EB-0038958C3D9E}"/>
                </a:ext>
              </a:extLst>
            </p:cNvPr>
            <p:cNvSpPr/>
            <p:nvPr/>
          </p:nvSpPr>
          <p:spPr>
            <a:xfrm>
              <a:off x="11417198" y="6506383"/>
              <a:ext cx="14630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14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COLUMN/LINE</a:t>
              </a:r>
              <a:endParaRPr lang="en-US" sz="900" dirty="0"/>
            </a:p>
          </p:txBody>
        </p:sp>
        <p:sp>
          <p:nvSpPr>
            <p:cNvPr id="156" name="Text 154">
              <a:extLst>
                <a:ext uri="{FF2B5EF4-FFF2-40B4-BE49-F238E27FC236}">
                  <a16:creationId xmlns:a16="http://schemas.microsoft.com/office/drawing/2014/main" id="{0A579184-2A99-4DDE-51FB-93819D97C5BB}"/>
                </a:ext>
              </a:extLst>
            </p:cNvPr>
            <p:cNvSpPr/>
            <p:nvPr/>
          </p:nvSpPr>
          <p:spPr>
            <a:xfrm>
              <a:off x="11417198" y="6835567"/>
              <a:ext cx="623072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GB" b="1" dirty="0"/>
                <a:t>Shipments Processed Trend by Day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99E7A64-5AEB-D45D-D0D7-6C108D6EA597}"/>
              </a:ext>
            </a:extLst>
          </p:cNvPr>
          <p:cNvGrpSpPr/>
          <p:nvPr/>
        </p:nvGrpSpPr>
        <p:grpSpPr>
          <a:xfrm>
            <a:off x="1277568" y="312966"/>
            <a:ext cx="10972800" cy="676656"/>
            <a:chOff x="1691640" y="347472"/>
            <a:chExt cx="10972800" cy="676656"/>
          </a:xfrm>
        </p:grpSpPr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4E8836B6-9729-AE75-5B27-EBAEF47E7700}"/>
                </a:ext>
              </a:extLst>
            </p:cNvPr>
            <p:cNvSpPr/>
            <p:nvPr/>
          </p:nvSpPr>
          <p:spPr>
            <a:xfrm>
              <a:off x="1691640" y="347472"/>
              <a:ext cx="10058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>
                      <a:lumMod val="75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Logistics &amp; Carrier Performance</a:t>
              </a:r>
              <a:endParaRPr lang="en-US" sz="28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9EBB2015-986F-5CCC-78D6-C7CCE9E7C152}"/>
                </a:ext>
              </a:extLst>
            </p:cNvPr>
            <p:cNvSpPr/>
            <p:nvPr/>
          </p:nvSpPr>
          <p:spPr>
            <a:xfrm>
              <a:off x="1691640" y="749808"/>
              <a:ext cx="10972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tx2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Which carriers and regions are running efficiently, and where is risk building?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98C1C09-3141-ED51-55A9-EDF94DE400F3}"/>
              </a:ext>
            </a:extLst>
          </p:cNvPr>
          <p:cNvGrpSpPr/>
          <p:nvPr/>
        </p:nvGrpSpPr>
        <p:grpSpPr>
          <a:xfrm>
            <a:off x="7435910" y="1255836"/>
            <a:ext cx="365760" cy="365760"/>
            <a:chOff x="7507224" y="1545336"/>
            <a:chExt cx="365760" cy="365760"/>
          </a:xfrm>
        </p:grpSpPr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999516F7-2B28-A0D1-2F1F-2EBFC7217A2E}"/>
                </a:ext>
              </a:extLst>
            </p:cNvPr>
            <p:cNvSpPr/>
            <p:nvPr/>
          </p:nvSpPr>
          <p:spPr>
            <a:xfrm>
              <a:off x="7507224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F4DCE17B-37D2-FFBB-87B7-3D2F0426A39D}"/>
                </a:ext>
              </a:extLst>
            </p:cNvPr>
            <p:cNvSpPr/>
            <p:nvPr/>
          </p:nvSpPr>
          <p:spPr>
            <a:xfrm>
              <a:off x="7587691" y="1625803"/>
              <a:ext cx="204826" cy="204826"/>
            </a:xfrm>
            <a:prstGeom prst="ellipse">
              <a:avLst/>
            </a:prstGeom>
            <a:ln w="30480">
              <a:solidFill>
                <a:srgbClr val="FFFFFF"/>
              </a:solidFill>
              <a:prstDash val="solid"/>
            </a:ln>
          </p:spPr>
        </p:sp>
        <p:sp>
          <p:nvSpPr>
            <p:cNvPr id="48" name="Shape 46">
              <a:extLst>
                <a:ext uri="{FF2B5EF4-FFF2-40B4-BE49-F238E27FC236}">
                  <a16:creationId xmlns:a16="http://schemas.microsoft.com/office/drawing/2014/main" id="{DBB81776-7023-2D08-E5CB-5CFB97DE7612}"/>
                </a:ext>
              </a:extLst>
            </p:cNvPr>
            <p:cNvSpPr/>
            <p:nvPr/>
          </p:nvSpPr>
          <p:spPr>
            <a:xfrm>
              <a:off x="7685532" y="1666768"/>
              <a:ext cx="9144" cy="61448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7B4352B2-6688-45D7-47B2-6CC659351F8B}"/>
                </a:ext>
              </a:extLst>
            </p:cNvPr>
            <p:cNvSpPr/>
            <p:nvPr/>
          </p:nvSpPr>
          <p:spPr>
            <a:xfrm>
              <a:off x="7690104" y="1723644"/>
              <a:ext cx="49158" cy="9144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03AF0BF-D2E1-8189-9115-2C102F8E68E8}"/>
              </a:ext>
            </a:extLst>
          </p:cNvPr>
          <p:cNvGrpSpPr/>
          <p:nvPr/>
        </p:nvGrpSpPr>
        <p:grpSpPr>
          <a:xfrm>
            <a:off x="10837799" y="1255836"/>
            <a:ext cx="365760" cy="365760"/>
            <a:chOff x="10780776" y="1545336"/>
            <a:chExt cx="365760" cy="365760"/>
          </a:xfrm>
        </p:grpSpPr>
        <p:sp>
          <p:nvSpPr>
            <p:cNvPr id="41" name="Shape 63">
              <a:extLst>
                <a:ext uri="{FF2B5EF4-FFF2-40B4-BE49-F238E27FC236}">
                  <a16:creationId xmlns:a16="http://schemas.microsoft.com/office/drawing/2014/main" id="{27CE683F-BD19-9F37-A2AA-562DCAD30958}"/>
                </a:ext>
              </a:extLst>
            </p:cNvPr>
            <p:cNvSpPr/>
            <p:nvPr/>
          </p:nvSpPr>
          <p:spPr>
            <a:xfrm>
              <a:off x="10780776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45" name="Text 64">
              <a:extLst>
                <a:ext uri="{FF2B5EF4-FFF2-40B4-BE49-F238E27FC236}">
                  <a16:creationId xmlns:a16="http://schemas.microsoft.com/office/drawing/2014/main" id="{6C88EC38-2A2B-DCB5-FD8C-9F9B75D084B5}"/>
                </a:ext>
              </a:extLst>
            </p:cNvPr>
            <p:cNvSpPr/>
            <p:nvPr/>
          </p:nvSpPr>
          <p:spPr>
            <a:xfrm>
              <a:off x="10780776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</a:t>
              </a:r>
              <a:endParaRPr lang="en-US" sz="16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9976A4-6884-C636-A4A3-EA877E6833C7}"/>
              </a:ext>
            </a:extLst>
          </p:cNvPr>
          <p:cNvGrpSpPr/>
          <p:nvPr/>
        </p:nvGrpSpPr>
        <p:grpSpPr>
          <a:xfrm>
            <a:off x="14239688" y="1255836"/>
            <a:ext cx="365760" cy="365760"/>
            <a:chOff x="14054328" y="1545336"/>
            <a:chExt cx="365760" cy="365760"/>
          </a:xfrm>
        </p:grpSpPr>
        <p:sp>
          <p:nvSpPr>
            <p:cNvPr id="37" name="Shape 80">
              <a:extLst>
                <a:ext uri="{FF2B5EF4-FFF2-40B4-BE49-F238E27FC236}">
                  <a16:creationId xmlns:a16="http://schemas.microsoft.com/office/drawing/2014/main" id="{17A2870B-9EA7-3A3A-1EDC-7BE6A89F8A15}"/>
                </a:ext>
              </a:extLst>
            </p:cNvPr>
            <p:cNvSpPr/>
            <p:nvPr/>
          </p:nvSpPr>
          <p:spPr>
            <a:xfrm>
              <a:off x="14054328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38" name="Shape 81">
              <a:extLst>
                <a:ext uri="{FF2B5EF4-FFF2-40B4-BE49-F238E27FC236}">
                  <a16:creationId xmlns:a16="http://schemas.microsoft.com/office/drawing/2014/main" id="{9ECC4EE4-E92C-99C3-98E5-A28E32E8E56E}"/>
                </a:ext>
              </a:extLst>
            </p:cNvPr>
            <p:cNvSpPr/>
            <p:nvPr/>
          </p:nvSpPr>
          <p:spPr>
            <a:xfrm>
              <a:off x="14131138" y="1633118"/>
              <a:ext cx="212141" cy="182441"/>
            </a:xfrm>
            <a:prstGeom prst="triangle">
              <a:avLst/>
            </a:prstGeom>
            <a:solidFill>
              <a:srgbClr val="FFFFFF"/>
            </a:solidFill>
            <a:ln/>
          </p:spPr>
        </p:sp>
        <p:sp>
          <p:nvSpPr>
            <p:cNvPr id="39" name="Shape 82">
              <a:extLst>
                <a:ext uri="{FF2B5EF4-FFF2-40B4-BE49-F238E27FC236}">
                  <a16:creationId xmlns:a16="http://schemas.microsoft.com/office/drawing/2014/main" id="{74AE3F50-621E-1A0C-6038-C6AFAD3CD9DF}"/>
                </a:ext>
              </a:extLst>
            </p:cNvPr>
            <p:cNvSpPr/>
            <p:nvPr/>
          </p:nvSpPr>
          <p:spPr>
            <a:xfrm>
              <a:off x="14226601" y="1685788"/>
              <a:ext cx="21214" cy="63642"/>
            </a:xfrm>
            <a:prstGeom prst="rect">
              <a:avLst/>
            </a:prstGeom>
            <a:solidFill>
              <a:srgbClr val="3E8A96"/>
            </a:solidFill>
            <a:ln/>
          </p:spPr>
        </p:sp>
        <p:sp>
          <p:nvSpPr>
            <p:cNvPr id="40" name="Shape 83">
              <a:extLst>
                <a:ext uri="{FF2B5EF4-FFF2-40B4-BE49-F238E27FC236}">
                  <a16:creationId xmlns:a16="http://schemas.microsoft.com/office/drawing/2014/main" id="{8D857015-4D71-3A13-1460-F9A7A7ECCF37}"/>
                </a:ext>
              </a:extLst>
            </p:cNvPr>
            <p:cNvSpPr/>
            <p:nvPr/>
          </p:nvSpPr>
          <p:spPr>
            <a:xfrm>
              <a:off x="14226601" y="1766401"/>
              <a:ext cx="21214" cy="21214"/>
            </a:xfrm>
            <a:prstGeom prst="ellipse">
              <a:avLst/>
            </a:prstGeom>
            <a:solidFill>
              <a:srgbClr val="3E8A96"/>
            </a:solidFill>
            <a:ln/>
          </p:spPr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40738F-780C-7C2E-6EDC-D1471E718B7E}"/>
              </a:ext>
            </a:extLst>
          </p:cNvPr>
          <p:cNvGrpSpPr/>
          <p:nvPr/>
        </p:nvGrpSpPr>
        <p:grpSpPr>
          <a:xfrm>
            <a:off x="17641575" y="1255836"/>
            <a:ext cx="365760" cy="365760"/>
            <a:chOff x="17327880" y="1545336"/>
            <a:chExt cx="365760" cy="365760"/>
          </a:xfrm>
        </p:grpSpPr>
        <p:sp>
          <p:nvSpPr>
            <p:cNvPr id="35" name="Shape 99">
              <a:extLst>
                <a:ext uri="{FF2B5EF4-FFF2-40B4-BE49-F238E27FC236}">
                  <a16:creationId xmlns:a16="http://schemas.microsoft.com/office/drawing/2014/main" id="{BC79EBEB-9728-E03E-68A2-DEECD6FA2571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36" name="Text 100">
              <a:extLst>
                <a:ext uri="{FF2B5EF4-FFF2-40B4-BE49-F238E27FC236}">
                  <a16:creationId xmlns:a16="http://schemas.microsoft.com/office/drawing/2014/main" id="{62BC37BC-7435-BCEA-1FF5-99A14C8FB731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</a:t>
              </a:r>
              <a:endParaRPr lang="en-US" sz="1600" dirty="0"/>
            </a:p>
          </p:txBody>
        </p:sp>
      </p:grpSp>
      <p:sp>
        <p:nvSpPr>
          <p:cNvPr id="64" name="Shape 146">
            <a:extLst>
              <a:ext uri="{FF2B5EF4-FFF2-40B4-BE49-F238E27FC236}">
                <a16:creationId xmlns:a16="http://schemas.microsoft.com/office/drawing/2014/main" id="{FDDAE586-D404-8544-9865-69186B956C66}"/>
              </a:ext>
            </a:extLst>
          </p:cNvPr>
          <p:cNvSpPr/>
          <p:nvPr/>
        </p:nvSpPr>
        <p:spPr>
          <a:xfrm>
            <a:off x="8242618" y="3381445"/>
            <a:ext cx="4724224" cy="3124800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</p:sp>
      <p:sp>
        <p:nvSpPr>
          <p:cNvPr id="65" name="Shape 147">
            <a:extLst>
              <a:ext uri="{FF2B5EF4-FFF2-40B4-BE49-F238E27FC236}">
                <a16:creationId xmlns:a16="http://schemas.microsoft.com/office/drawing/2014/main" id="{4065BAE0-8F9B-D43B-6E39-C9D3B9A2474B}"/>
              </a:ext>
            </a:extLst>
          </p:cNvPr>
          <p:cNvSpPr/>
          <p:nvPr/>
        </p:nvSpPr>
        <p:spPr>
          <a:xfrm>
            <a:off x="8377326" y="3546037"/>
            <a:ext cx="1077667" cy="292608"/>
          </a:xfrm>
          <a:prstGeom prst="roundRect">
            <a:avLst>
              <a:gd name="adj" fmla="val 50000"/>
            </a:avLst>
          </a:prstGeom>
          <a:solidFill>
            <a:srgbClr val="E4EFF1"/>
          </a:solidFill>
          <a:ln/>
        </p:spPr>
      </p:sp>
      <p:sp>
        <p:nvSpPr>
          <p:cNvPr id="66" name="Text 148">
            <a:extLst>
              <a:ext uri="{FF2B5EF4-FFF2-40B4-BE49-F238E27FC236}">
                <a16:creationId xmlns:a16="http://schemas.microsoft.com/office/drawing/2014/main" id="{A972B9DA-9052-B968-02A5-46679195B22E}"/>
              </a:ext>
            </a:extLst>
          </p:cNvPr>
          <p:cNvSpPr/>
          <p:nvPr/>
        </p:nvSpPr>
        <p:spPr>
          <a:xfrm>
            <a:off x="8377326" y="3546037"/>
            <a:ext cx="10776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900" dirty="0"/>
          </a:p>
        </p:txBody>
      </p:sp>
      <p:sp>
        <p:nvSpPr>
          <p:cNvPr id="67" name="Text 154">
            <a:extLst>
              <a:ext uri="{FF2B5EF4-FFF2-40B4-BE49-F238E27FC236}">
                <a16:creationId xmlns:a16="http://schemas.microsoft.com/office/drawing/2014/main" id="{99C01110-A0DC-EFE5-24C0-BA2213FF6698}"/>
              </a:ext>
            </a:extLst>
          </p:cNvPr>
          <p:cNvSpPr/>
          <p:nvPr/>
        </p:nvSpPr>
        <p:spPr>
          <a:xfrm>
            <a:off x="8377326" y="3875221"/>
            <a:ext cx="45895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Avg. Delay Hours by Carrier</a:t>
            </a:r>
          </a:p>
        </p:txBody>
      </p:sp>
      <p:sp>
        <p:nvSpPr>
          <p:cNvPr id="70" name="Shape 147">
            <a:extLst>
              <a:ext uri="{FF2B5EF4-FFF2-40B4-BE49-F238E27FC236}">
                <a16:creationId xmlns:a16="http://schemas.microsoft.com/office/drawing/2014/main" id="{3F36ABAA-4B83-82B4-0F98-B93BF0CF6F58}"/>
              </a:ext>
            </a:extLst>
          </p:cNvPr>
          <p:cNvSpPr/>
          <p:nvPr/>
        </p:nvSpPr>
        <p:spPr>
          <a:xfrm>
            <a:off x="13374437" y="3457807"/>
            <a:ext cx="1077667" cy="292608"/>
          </a:xfrm>
          <a:prstGeom prst="roundRect">
            <a:avLst>
              <a:gd name="adj" fmla="val 50000"/>
            </a:avLst>
          </a:prstGeom>
          <a:solidFill>
            <a:srgbClr val="E4EFF1"/>
          </a:solidFill>
          <a:ln/>
        </p:spPr>
      </p:sp>
      <p:sp>
        <p:nvSpPr>
          <p:cNvPr id="71" name="Text 148">
            <a:extLst>
              <a:ext uri="{FF2B5EF4-FFF2-40B4-BE49-F238E27FC236}">
                <a16:creationId xmlns:a16="http://schemas.microsoft.com/office/drawing/2014/main" id="{89AF230C-8B68-FAD8-2FE5-49325C9D84D0}"/>
              </a:ext>
            </a:extLst>
          </p:cNvPr>
          <p:cNvSpPr/>
          <p:nvPr/>
        </p:nvSpPr>
        <p:spPr>
          <a:xfrm>
            <a:off x="13374437" y="3457807"/>
            <a:ext cx="10776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900" dirty="0"/>
          </a:p>
        </p:txBody>
      </p:sp>
      <p:sp>
        <p:nvSpPr>
          <p:cNvPr id="72" name="Text 154">
            <a:extLst>
              <a:ext uri="{FF2B5EF4-FFF2-40B4-BE49-F238E27FC236}">
                <a16:creationId xmlns:a16="http://schemas.microsoft.com/office/drawing/2014/main" id="{006A2203-A601-A5EA-61A6-404D2FC7A248}"/>
              </a:ext>
            </a:extLst>
          </p:cNvPr>
          <p:cNvSpPr/>
          <p:nvPr/>
        </p:nvSpPr>
        <p:spPr>
          <a:xfrm>
            <a:off x="13374437" y="3786991"/>
            <a:ext cx="45895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Warehouse Utilization by Region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BF288AC5-E591-19FC-3784-2BF4DF7ECDB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564578" y="468403"/>
            <a:ext cx="425933" cy="4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6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7C4BF-45A4-65C2-00D0-288F68E87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146">
            <a:extLst>
              <a:ext uri="{FF2B5EF4-FFF2-40B4-BE49-F238E27FC236}">
                <a16:creationId xmlns:a16="http://schemas.microsoft.com/office/drawing/2014/main" id="{FDBF9AA6-FAA4-4D4D-86A0-6818C33DC88B}"/>
              </a:ext>
            </a:extLst>
          </p:cNvPr>
          <p:cNvSpPr/>
          <p:nvPr/>
        </p:nvSpPr>
        <p:spPr>
          <a:xfrm>
            <a:off x="13133809" y="3389610"/>
            <a:ext cx="4943273" cy="3420263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BF57667-5850-44A7-3A5C-548B76B50C72}"/>
              </a:ext>
            </a:extLst>
          </p:cNvPr>
          <p:cNvGrpSpPr/>
          <p:nvPr/>
        </p:nvGrpSpPr>
        <p:grpSpPr>
          <a:xfrm>
            <a:off x="1297800" y="1158006"/>
            <a:ext cx="16779282" cy="2040689"/>
            <a:chOff x="1297800" y="1158006"/>
            <a:chExt cx="16779282" cy="2040689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16B03256-6AFF-6AF2-8B2A-0FDE6346CE06}"/>
                </a:ext>
              </a:extLst>
            </p:cNvPr>
            <p:cNvSpPr/>
            <p:nvPr/>
          </p:nvSpPr>
          <p:spPr>
            <a:xfrm>
              <a:off x="1297800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839AA5F9-9525-A769-B299-75420E960768}"/>
                </a:ext>
              </a:extLst>
            </p:cNvPr>
            <p:cNvSpPr/>
            <p:nvPr/>
          </p:nvSpPr>
          <p:spPr>
            <a:xfrm>
              <a:off x="4692887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0E6CAD84-8AA5-10CD-9CD6-3CAA4E36CB83}"/>
                </a:ext>
              </a:extLst>
            </p:cNvPr>
            <p:cNvSpPr/>
            <p:nvPr/>
          </p:nvSpPr>
          <p:spPr>
            <a:xfrm>
              <a:off x="8087974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76" name="Shape 74">
              <a:extLst>
                <a:ext uri="{FF2B5EF4-FFF2-40B4-BE49-F238E27FC236}">
                  <a16:creationId xmlns:a16="http://schemas.microsoft.com/office/drawing/2014/main" id="{E9BDF984-1BEA-3FCF-D9B3-EF4F650FDB79}"/>
                </a:ext>
              </a:extLst>
            </p:cNvPr>
            <p:cNvSpPr/>
            <p:nvPr/>
          </p:nvSpPr>
          <p:spPr>
            <a:xfrm>
              <a:off x="11483061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95" name="Shape 93">
              <a:extLst>
                <a:ext uri="{FF2B5EF4-FFF2-40B4-BE49-F238E27FC236}">
                  <a16:creationId xmlns:a16="http://schemas.microsoft.com/office/drawing/2014/main" id="{ED88B2FC-995F-89A0-511E-F189EDCB9409}"/>
                </a:ext>
              </a:extLst>
            </p:cNvPr>
            <p:cNvSpPr/>
            <p:nvPr/>
          </p:nvSpPr>
          <p:spPr>
            <a:xfrm>
              <a:off x="14873082" y="1158006"/>
              <a:ext cx="3204000" cy="1981321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2700">
              <a:solidFill>
                <a:srgbClr val="DCE6E8"/>
              </a:solidFill>
              <a:prstDash val="solid"/>
            </a:ln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89" name="Shape 23">
              <a:extLst>
                <a:ext uri="{FF2B5EF4-FFF2-40B4-BE49-F238E27FC236}">
                  <a16:creationId xmlns:a16="http://schemas.microsoft.com/office/drawing/2014/main" id="{F86CB030-E0D5-EDEE-C4C7-B93B744088F6}"/>
                </a:ext>
              </a:extLst>
            </p:cNvPr>
            <p:cNvSpPr/>
            <p:nvPr/>
          </p:nvSpPr>
          <p:spPr>
            <a:xfrm>
              <a:off x="129780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0" name="Shape 23">
              <a:extLst>
                <a:ext uri="{FF2B5EF4-FFF2-40B4-BE49-F238E27FC236}">
                  <a16:creationId xmlns:a16="http://schemas.microsoft.com/office/drawing/2014/main" id="{AECABEFB-FA1B-89CF-8085-84E3CB8CD1AD}"/>
                </a:ext>
              </a:extLst>
            </p:cNvPr>
            <p:cNvSpPr/>
            <p:nvPr/>
          </p:nvSpPr>
          <p:spPr>
            <a:xfrm>
              <a:off x="470093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1" name="Shape 23">
              <a:extLst>
                <a:ext uri="{FF2B5EF4-FFF2-40B4-BE49-F238E27FC236}">
                  <a16:creationId xmlns:a16="http://schemas.microsoft.com/office/drawing/2014/main" id="{670FE14A-F625-15C3-D458-74BB4B9A9A81}"/>
                </a:ext>
              </a:extLst>
            </p:cNvPr>
            <p:cNvSpPr/>
            <p:nvPr/>
          </p:nvSpPr>
          <p:spPr>
            <a:xfrm>
              <a:off x="810406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2" name="Shape 23">
              <a:extLst>
                <a:ext uri="{FF2B5EF4-FFF2-40B4-BE49-F238E27FC236}">
                  <a16:creationId xmlns:a16="http://schemas.microsoft.com/office/drawing/2014/main" id="{02669FCB-FFE0-F956-9EFD-AADB8B0FC84E}"/>
                </a:ext>
              </a:extLst>
            </p:cNvPr>
            <p:cNvSpPr/>
            <p:nvPr/>
          </p:nvSpPr>
          <p:spPr>
            <a:xfrm>
              <a:off x="11507190" y="2550695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  <p:sp>
          <p:nvSpPr>
            <p:cNvPr id="193" name="Shape 23">
              <a:extLst>
                <a:ext uri="{FF2B5EF4-FFF2-40B4-BE49-F238E27FC236}">
                  <a16:creationId xmlns:a16="http://schemas.microsoft.com/office/drawing/2014/main" id="{04368FB9-F6A6-0FA0-EC63-192B3A663112}"/>
                </a:ext>
              </a:extLst>
            </p:cNvPr>
            <p:cNvSpPr/>
            <p:nvPr/>
          </p:nvSpPr>
          <p:spPr>
            <a:xfrm>
              <a:off x="14873082" y="2533726"/>
              <a:ext cx="3204000" cy="648000"/>
            </a:xfrm>
            <a:prstGeom prst="roundRect">
              <a:avLst>
                <a:gd name="adj" fmla="val 5405"/>
              </a:avLst>
            </a:prstGeom>
            <a:solidFill>
              <a:srgbClr val="E4EFF1"/>
            </a:solidFill>
            <a:ln>
              <a:noFill/>
            </a:ln>
          </p:spPr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366FDD8-1241-6D80-73C1-A9666CDA518F}"/>
              </a:ext>
            </a:extLst>
          </p:cNvPr>
          <p:cNvGrpSpPr/>
          <p:nvPr/>
        </p:nvGrpSpPr>
        <p:grpSpPr>
          <a:xfrm>
            <a:off x="113004" y="312966"/>
            <a:ext cx="1005840" cy="9892773"/>
            <a:chOff x="320040" y="103517"/>
            <a:chExt cx="1005840" cy="10119475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024C8499-6D28-0DC2-D1CA-7547D0E497A0}"/>
                </a:ext>
              </a:extLst>
            </p:cNvPr>
            <p:cNvSpPr/>
            <p:nvPr/>
          </p:nvSpPr>
          <p:spPr>
            <a:xfrm>
              <a:off x="320040" y="103517"/>
              <a:ext cx="1005840" cy="10119475"/>
            </a:xfrm>
            <a:prstGeom prst="roundRect">
              <a:avLst>
                <a:gd name="adj" fmla="val 13551"/>
              </a:avLst>
            </a:prstGeom>
            <a:solidFill>
              <a:srgbClr val="14324A"/>
            </a:solidFill>
            <a:ln/>
            <a:effectLst>
              <a:outerShdw blurRad="139700" dist="44450" dir="5400000" algn="bl" rotWithShape="0">
                <a:srgbClr val="0D2233">
                  <a:alpha val="14000"/>
                </a:srgbClr>
              </a:outerShdw>
            </a:effectLst>
          </p:spPr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84A9C847-4667-3DFD-D6B9-FF1FA1E027C5}"/>
                </a:ext>
              </a:extLst>
            </p:cNvPr>
            <p:cNvSpPr/>
            <p:nvPr/>
          </p:nvSpPr>
          <p:spPr>
            <a:xfrm>
              <a:off x="539496" y="4032504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F7D970BE-476F-0FB5-884A-4C70CDD88D6C}"/>
                </a:ext>
              </a:extLst>
            </p:cNvPr>
            <p:cNvSpPr/>
            <p:nvPr/>
          </p:nvSpPr>
          <p:spPr>
            <a:xfrm>
              <a:off x="732252" y="4100535"/>
              <a:ext cx="181417" cy="181417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621199C9-9CE0-ADF0-F5C0-8F852FDB243E}"/>
                </a:ext>
              </a:extLst>
            </p:cNvPr>
            <p:cNvSpPr/>
            <p:nvPr/>
          </p:nvSpPr>
          <p:spPr>
            <a:xfrm>
              <a:off x="652882" y="4315968"/>
              <a:ext cx="340157" cy="192756"/>
            </a:xfrm>
            <a:prstGeom prst="roundRect">
              <a:avLst>
                <a:gd name="adj" fmla="val 40000"/>
              </a:avLst>
            </a:prstGeom>
            <a:solidFill>
              <a:srgbClr val="AFC6CE"/>
            </a:solidFill>
            <a:ln/>
          </p:spPr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81195B9E-CE25-10D3-439B-111AA1AFE776}"/>
                </a:ext>
              </a:extLst>
            </p:cNvPr>
            <p:cNvSpPr/>
            <p:nvPr/>
          </p:nvSpPr>
          <p:spPr>
            <a:xfrm>
              <a:off x="539496" y="4837176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1E4560"/>
            </a:solidFill>
            <a:ln/>
          </p:spPr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5396592D-E6BD-0AF0-F887-593A7209C227}"/>
                </a:ext>
              </a:extLst>
            </p:cNvPr>
            <p:cNvSpPr/>
            <p:nvPr/>
          </p:nvSpPr>
          <p:spPr>
            <a:xfrm>
              <a:off x="596189" y="5052609"/>
              <a:ext cx="283464" cy="158740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2E6ED70B-4DCA-5248-D0E9-CD91807068F7}"/>
                </a:ext>
              </a:extLst>
            </p:cNvPr>
            <p:cNvSpPr/>
            <p:nvPr/>
          </p:nvSpPr>
          <p:spPr>
            <a:xfrm>
              <a:off x="879653" y="5086624"/>
              <a:ext cx="136063" cy="124724"/>
            </a:xfrm>
            <a:prstGeom prst="rect">
              <a:avLst/>
            </a:prstGeom>
            <a:solidFill>
              <a:srgbClr val="AFC6CE"/>
            </a:solidFill>
            <a:ln/>
          </p:spPr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BF38E7C3-C4B5-425E-B10F-CC63C27C58F4}"/>
                </a:ext>
              </a:extLst>
            </p:cNvPr>
            <p:cNvSpPr/>
            <p:nvPr/>
          </p:nvSpPr>
          <p:spPr>
            <a:xfrm>
              <a:off x="652882" y="5200010"/>
              <a:ext cx="79370" cy="79370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1E7FE8B8-DFFF-8D88-AA4A-E7AE891091FF}"/>
                </a:ext>
              </a:extLst>
            </p:cNvPr>
            <p:cNvSpPr/>
            <p:nvPr/>
          </p:nvSpPr>
          <p:spPr>
            <a:xfrm>
              <a:off x="868314" y="5200010"/>
              <a:ext cx="79370" cy="79370"/>
            </a:xfrm>
            <a:prstGeom prst="ellipse">
              <a:avLst/>
            </a:prstGeom>
            <a:solidFill>
              <a:srgbClr val="AFC6CE"/>
            </a:solidFill>
            <a:ln/>
          </p:spPr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D07D248B-1C4E-26BD-A82F-CB9909A2179F}"/>
                </a:ext>
              </a:extLst>
            </p:cNvPr>
            <p:cNvSpPr/>
            <p:nvPr/>
          </p:nvSpPr>
          <p:spPr>
            <a:xfrm>
              <a:off x="539496" y="5641848"/>
              <a:ext cx="566928" cy="566928"/>
            </a:xfrm>
            <a:prstGeom prst="roundRect">
              <a:avLst>
                <a:gd name="adj" fmla="val 25806"/>
              </a:avLst>
            </a:prstGeom>
            <a:solidFill>
              <a:srgbClr val="E8734A"/>
            </a:solidFill>
            <a:ln/>
          </p:spPr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D8569C93-6B0D-185A-2637-1D1DCB6AAE98}"/>
                </a:ext>
              </a:extLst>
            </p:cNvPr>
            <p:cNvSpPr/>
            <p:nvPr/>
          </p:nvSpPr>
          <p:spPr>
            <a:xfrm>
              <a:off x="624535" y="5755234"/>
              <a:ext cx="181417" cy="181417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945E2A3B-3E45-BB02-EEA6-E797679148F2}"/>
                </a:ext>
              </a:extLst>
            </p:cNvPr>
            <p:cNvSpPr/>
            <p:nvPr/>
          </p:nvSpPr>
          <p:spPr>
            <a:xfrm>
              <a:off x="839968" y="5755234"/>
              <a:ext cx="181417" cy="181417"/>
            </a:xfrm>
            <a:prstGeom prst="rect">
              <a:avLst/>
            </a:prstGeom>
            <a:noFill/>
            <a:ln w="25400">
              <a:solidFill>
                <a:srgbClr val="14324A"/>
              </a:solidFill>
              <a:prstDash val="solid"/>
            </a:ln>
          </p:spPr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EA50BBC7-B561-49A3-215B-8D56B6A0678D}"/>
                </a:ext>
              </a:extLst>
            </p:cNvPr>
            <p:cNvSpPr/>
            <p:nvPr/>
          </p:nvSpPr>
          <p:spPr>
            <a:xfrm>
              <a:off x="624535" y="5970666"/>
              <a:ext cx="181417" cy="181417"/>
            </a:xfrm>
            <a:prstGeom prst="rect">
              <a:avLst/>
            </a:prstGeom>
            <a:noFill/>
            <a:ln w="25400">
              <a:solidFill>
                <a:srgbClr val="14324A"/>
              </a:solidFill>
              <a:prstDash val="solid"/>
            </a:ln>
          </p:spPr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05F6B167-9483-E1B9-C3B1-58D3FDB580E9}"/>
                </a:ext>
              </a:extLst>
            </p:cNvPr>
            <p:cNvSpPr/>
            <p:nvPr/>
          </p:nvSpPr>
          <p:spPr>
            <a:xfrm>
              <a:off x="839968" y="5970666"/>
              <a:ext cx="181417" cy="181417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AA54740B-D379-B4D3-AC24-7BACE62A7ED6}"/>
                </a:ext>
              </a:extLst>
            </p:cNvPr>
            <p:cNvSpPr/>
            <p:nvPr/>
          </p:nvSpPr>
          <p:spPr>
            <a:xfrm>
              <a:off x="640080" y="9326880"/>
              <a:ext cx="365760" cy="365760"/>
            </a:xfrm>
            <a:prstGeom prst="ellipse">
              <a:avLst/>
            </a:prstGeom>
            <a:ln w="19050">
              <a:solidFill>
                <a:srgbClr val="3A5E74"/>
              </a:solidFill>
              <a:prstDash val="solid"/>
            </a:ln>
          </p:spPr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81D95E3D-852A-8F68-C5BC-1A535FE51230}"/>
                </a:ext>
              </a:extLst>
            </p:cNvPr>
            <p:cNvSpPr/>
            <p:nvPr/>
          </p:nvSpPr>
          <p:spPr>
            <a:xfrm>
              <a:off x="640080" y="93177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E8EA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?</a:t>
              </a:r>
              <a:endParaRPr lang="en-US" sz="150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E6F2E37D-325F-B2F5-3B5A-0A66378C1FBD}"/>
              </a:ext>
            </a:extLst>
          </p:cNvPr>
          <p:cNvGrpSpPr/>
          <p:nvPr/>
        </p:nvGrpSpPr>
        <p:grpSpPr>
          <a:xfrm>
            <a:off x="17628566" y="1251264"/>
            <a:ext cx="365760" cy="365760"/>
            <a:chOff x="17327880" y="1545336"/>
            <a:chExt cx="365760" cy="365760"/>
          </a:xfrm>
        </p:grpSpPr>
        <p:sp>
          <p:nvSpPr>
            <p:cNvPr id="96" name="Shape 94">
              <a:extLst>
                <a:ext uri="{FF2B5EF4-FFF2-40B4-BE49-F238E27FC236}">
                  <a16:creationId xmlns:a16="http://schemas.microsoft.com/office/drawing/2014/main" id="{99138331-7306-10DA-99DE-6FAEFAFA745E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97" name="Shape 95">
              <a:extLst>
                <a:ext uri="{FF2B5EF4-FFF2-40B4-BE49-F238E27FC236}">
                  <a16:creationId xmlns:a16="http://schemas.microsoft.com/office/drawing/2014/main" id="{0001D457-DA65-CA55-E409-2D81F2DA9E0E}"/>
                </a:ext>
              </a:extLst>
            </p:cNvPr>
            <p:cNvSpPr/>
            <p:nvPr/>
          </p:nvSpPr>
          <p:spPr>
            <a:xfrm>
              <a:off x="17404690" y="1633118"/>
              <a:ext cx="212141" cy="182441"/>
            </a:xfrm>
            <a:prstGeom prst="triangle">
              <a:avLst/>
            </a:prstGeom>
            <a:solidFill>
              <a:srgbClr val="FFFFFF"/>
            </a:solidFill>
            <a:ln/>
          </p:spPr>
        </p:sp>
        <p:sp>
          <p:nvSpPr>
            <p:cNvPr id="98" name="Shape 96">
              <a:extLst>
                <a:ext uri="{FF2B5EF4-FFF2-40B4-BE49-F238E27FC236}">
                  <a16:creationId xmlns:a16="http://schemas.microsoft.com/office/drawing/2014/main" id="{EB86511F-3F98-6984-BDEF-819253482812}"/>
                </a:ext>
              </a:extLst>
            </p:cNvPr>
            <p:cNvSpPr/>
            <p:nvPr/>
          </p:nvSpPr>
          <p:spPr>
            <a:xfrm>
              <a:off x="17500153" y="1685788"/>
              <a:ext cx="21214" cy="63642"/>
            </a:xfrm>
            <a:prstGeom prst="rect">
              <a:avLst/>
            </a:prstGeom>
            <a:solidFill>
              <a:srgbClr val="14324A"/>
            </a:solidFill>
            <a:ln/>
          </p:spPr>
        </p:sp>
        <p:sp>
          <p:nvSpPr>
            <p:cNvPr id="99" name="Shape 97">
              <a:extLst>
                <a:ext uri="{FF2B5EF4-FFF2-40B4-BE49-F238E27FC236}">
                  <a16:creationId xmlns:a16="http://schemas.microsoft.com/office/drawing/2014/main" id="{0AFB7159-42BD-DA93-63EF-8785F3955EB8}"/>
                </a:ext>
              </a:extLst>
            </p:cNvPr>
            <p:cNvSpPr/>
            <p:nvPr/>
          </p:nvSpPr>
          <p:spPr>
            <a:xfrm>
              <a:off x="17500153" y="1766401"/>
              <a:ext cx="21214" cy="21214"/>
            </a:xfrm>
            <a:prstGeom prst="ellipse">
              <a:avLst/>
            </a:prstGeom>
            <a:solidFill>
              <a:srgbClr val="14324A"/>
            </a:solidFill>
            <a:ln/>
          </p:spPr>
        </p:sp>
      </p:grpSp>
      <p:sp>
        <p:nvSpPr>
          <p:cNvPr id="114" name="Shape 112">
            <a:extLst>
              <a:ext uri="{FF2B5EF4-FFF2-40B4-BE49-F238E27FC236}">
                <a16:creationId xmlns:a16="http://schemas.microsoft.com/office/drawing/2014/main" id="{2D3450D2-EE2C-FCA5-CB95-FE25C8E664DD}"/>
              </a:ext>
            </a:extLst>
          </p:cNvPr>
          <p:cNvSpPr/>
          <p:nvPr/>
        </p:nvSpPr>
        <p:spPr>
          <a:xfrm>
            <a:off x="1297800" y="7397957"/>
            <a:ext cx="11669042" cy="2733334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A1E5FCC3-C6A6-57AC-3947-EE91CCE350D3}"/>
              </a:ext>
            </a:extLst>
          </p:cNvPr>
          <p:cNvSpPr/>
          <p:nvPr/>
        </p:nvSpPr>
        <p:spPr>
          <a:xfrm>
            <a:off x="1418627" y="7521676"/>
            <a:ext cx="90214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Carrier Performance Summary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CE01FB-AE38-C42F-C031-3AA856FD3CB5}"/>
              </a:ext>
            </a:extLst>
          </p:cNvPr>
          <p:cNvGrpSpPr/>
          <p:nvPr/>
        </p:nvGrpSpPr>
        <p:grpSpPr>
          <a:xfrm>
            <a:off x="4034021" y="1255836"/>
            <a:ext cx="365760" cy="365760"/>
            <a:chOff x="4233672" y="1545336"/>
            <a:chExt cx="365760" cy="365760"/>
          </a:xfrm>
        </p:grpSpPr>
        <p:sp>
          <p:nvSpPr>
            <p:cNvPr id="50" name="Shape 24">
              <a:extLst>
                <a:ext uri="{FF2B5EF4-FFF2-40B4-BE49-F238E27FC236}">
                  <a16:creationId xmlns:a16="http://schemas.microsoft.com/office/drawing/2014/main" id="{97583A80-71FF-A489-7379-3CD7F1895607}"/>
                </a:ext>
              </a:extLst>
            </p:cNvPr>
            <p:cNvSpPr/>
            <p:nvPr/>
          </p:nvSpPr>
          <p:spPr>
            <a:xfrm>
              <a:off x="4233672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51" name="Shape 25">
              <a:extLst>
                <a:ext uri="{FF2B5EF4-FFF2-40B4-BE49-F238E27FC236}">
                  <a16:creationId xmlns:a16="http://schemas.microsoft.com/office/drawing/2014/main" id="{8EEB2136-9265-A3A8-38C5-0DFCFA4B7C4B}"/>
                </a:ext>
              </a:extLst>
            </p:cNvPr>
            <p:cNvSpPr/>
            <p:nvPr/>
          </p:nvSpPr>
          <p:spPr>
            <a:xfrm>
              <a:off x="4292194" y="1677010"/>
              <a:ext cx="153619" cy="87782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52" name="Shape 26">
              <a:extLst>
                <a:ext uri="{FF2B5EF4-FFF2-40B4-BE49-F238E27FC236}">
                  <a16:creationId xmlns:a16="http://schemas.microsoft.com/office/drawing/2014/main" id="{83D66F70-EA2F-FB7A-5851-D965D3B8E1FF}"/>
                </a:ext>
              </a:extLst>
            </p:cNvPr>
            <p:cNvSpPr/>
            <p:nvPr/>
          </p:nvSpPr>
          <p:spPr>
            <a:xfrm>
              <a:off x="4445813" y="1691640"/>
              <a:ext cx="73152" cy="73152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53" name="Shape 27">
              <a:extLst>
                <a:ext uri="{FF2B5EF4-FFF2-40B4-BE49-F238E27FC236}">
                  <a16:creationId xmlns:a16="http://schemas.microsoft.com/office/drawing/2014/main" id="{EC3AEDD1-FCA8-37E2-31A1-FDFA789F3847}"/>
                </a:ext>
              </a:extLst>
            </p:cNvPr>
            <p:cNvSpPr/>
            <p:nvPr/>
          </p:nvSpPr>
          <p:spPr>
            <a:xfrm>
              <a:off x="4321454" y="1757477"/>
              <a:ext cx="43891" cy="43891"/>
            </a:xfrm>
            <a:prstGeom prst="ellipse">
              <a:avLst/>
            </a:prstGeom>
            <a:solidFill>
              <a:srgbClr val="14324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4" name="Shape 28">
              <a:extLst>
                <a:ext uri="{FF2B5EF4-FFF2-40B4-BE49-F238E27FC236}">
                  <a16:creationId xmlns:a16="http://schemas.microsoft.com/office/drawing/2014/main" id="{71B8BBEB-D048-6A38-9B5D-9C7FB984B66D}"/>
                </a:ext>
              </a:extLst>
            </p:cNvPr>
            <p:cNvSpPr/>
            <p:nvPr/>
          </p:nvSpPr>
          <p:spPr>
            <a:xfrm>
              <a:off x="4445813" y="1757477"/>
              <a:ext cx="43891" cy="43891"/>
            </a:xfrm>
            <a:prstGeom prst="ellipse">
              <a:avLst/>
            </a:prstGeom>
            <a:solidFill>
              <a:srgbClr val="14324A"/>
            </a:solidFill>
            <a:ln w="19050">
              <a:solidFill>
                <a:srgbClr val="FFFFFF"/>
              </a:solidFill>
              <a:prstDash val="solid"/>
            </a:ln>
          </p:spPr>
        </p:sp>
      </p:grpSp>
      <p:sp>
        <p:nvSpPr>
          <p:cNvPr id="148" name="Shape 146">
            <a:extLst>
              <a:ext uri="{FF2B5EF4-FFF2-40B4-BE49-F238E27FC236}">
                <a16:creationId xmlns:a16="http://schemas.microsoft.com/office/drawing/2014/main" id="{B177642F-FCC2-B933-83AA-1BB1FCE3F4EA}"/>
              </a:ext>
            </a:extLst>
          </p:cNvPr>
          <p:cNvSpPr/>
          <p:nvPr/>
        </p:nvSpPr>
        <p:spPr>
          <a:xfrm>
            <a:off x="1275726" y="3389610"/>
            <a:ext cx="6799925" cy="3788891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</p:sp>
      <p:sp>
        <p:nvSpPr>
          <p:cNvPr id="156" name="Text 154">
            <a:extLst>
              <a:ext uri="{FF2B5EF4-FFF2-40B4-BE49-F238E27FC236}">
                <a16:creationId xmlns:a16="http://schemas.microsoft.com/office/drawing/2014/main" id="{4737F7CC-A7AD-B457-5CAC-8C719806FEF9}"/>
              </a:ext>
            </a:extLst>
          </p:cNvPr>
          <p:cNvSpPr/>
          <p:nvPr/>
        </p:nvSpPr>
        <p:spPr>
          <a:xfrm>
            <a:off x="1418627" y="3490207"/>
            <a:ext cx="568850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Shipments Processed Trend by Day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1F0BC7-7BEE-B6A2-2B4F-DF167271AD2A}"/>
              </a:ext>
            </a:extLst>
          </p:cNvPr>
          <p:cNvGrpSpPr/>
          <p:nvPr/>
        </p:nvGrpSpPr>
        <p:grpSpPr>
          <a:xfrm>
            <a:off x="1277568" y="312966"/>
            <a:ext cx="10972800" cy="676656"/>
            <a:chOff x="1691640" y="347472"/>
            <a:chExt cx="10972800" cy="676656"/>
          </a:xfrm>
        </p:grpSpPr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157AEC2D-795C-74C0-FB52-9C7C94AB9A00}"/>
                </a:ext>
              </a:extLst>
            </p:cNvPr>
            <p:cNvSpPr/>
            <p:nvPr/>
          </p:nvSpPr>
          <p:spPr>
            <a:xfrm>
              <a:off x="1691640" y="347472"/>
              <a:ext cx="10058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>
                      <a:lumMod val="75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Logistics &amp; Carrier Performance</a:t>
              </a:r>
              <a:endParaRPr lang="en-US" sz="28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C5361491-020D-7837-00C5-A2B55FF0E48E}"/>
                </a:ext>
              </a:extLst>
            </p:cNvPr>
            <p:cNvSpPr/>
            <p:nvPr/>
          </p:nvSpPr>
          <p:spPr>
            <a:xfrm>
              <a:off x="1691640" y="749808"/>
              <a:ext cx="10972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tx2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Which carriers and regions are running efficiently, and where is risk building?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2FF5687-D0DA-A75F-C34E-67D3ED2CC8A0}"/>
              </a:ext>
            </a:extLst>
          </p:cNvPr>
          <p:cNvGrpSpPr/>
          <p:nvPr/>
        </p:nvGrpSpPr>
        <p:grpSpPr>
          <a:xfrm>
            <a:off x="7435910" y="1255836"/>
            <a:ext cx="365760" cy="365760"/>
            <a:chOff x="7507224" y="1545336"/>
            <a:chExt cx="365760" cy="365760"/>
          </a:xfrm>
        </p:grpSpPr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655F1437-D13F-3439-824F-2E7094F38DCF}"/>
                </a:ext>
              </a:extLst>
            </p:cNvPr>
            <p:cNvSpPr/>
            <p:nvPr/>
          </p:nvSpPr>
          <p:spPr>
            <a:xfrm>
              <a:off x="7507224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CA311B41-91A2-A4D1-9F55-603FE0EF01BC}"/>
                </a:ext>
              </a:extLst>
            </p:cNvPr>
            <p:cNvSpPr/>
            <p:nvPr/>
          </p:nvSpPr>
          <p:spPr>
            <a:xfrm>
              <a:off x="7587691" y="1625803"/>
              <a:ext cx="204826" cy="204826"/>
            </a:xfrm>
            <a:prstGeom prst="ellipse">
              <a:avLst/>
            </a:prstGeom>
            <a:ln w="30480">
              <a:solidFill>
                <a:srgbClr val="FFFFFF"/>
              </a:solidFill>
              <a:prstDash val="solid"/>
            </a:ln>
          </p:spPr>
        </p:sp>
        <p:sp>
          <p:nvSpPr>
            <p:cNvPr id="48" name="Shape 46">
              <a:extLst>
                <a:ext uri="{FF2B5EF4-FFF2-40B4-BE49-F238E27FC236}">
                  <a16:creationId xmlns:a16="http://schemas.microsoft.com/office/drawing/2014/main" id="{7789F2FB-FC02-2E28-98E9-D51A8A8BEE47}"/>
                </a:ext>
              </a:extLst>
            </p:cNvPr>
            <p:cNvSpPr/>
            <p:nvPr/>
          </p:nvSpPr>
          <p:spPr>
            <a:xfrm>
              <a:off x="7685532" y="1666768"/>
              <a:ext cx="9144" cy="61448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28BF946B-C734-D7DC-C528-076452DF22EE}"/>
                </a:ext>
              </a:extLst>
            </p:cNvPr>
            <p:cNvSpPr/>
            <p:nvPr/>
          </p:nvSpPr>
          <p:spPr>
            <a:xfrm>
              <a:off x="7690104" y="1723644"/>
              <a:ext cx="49158" cy="9144"/>
            </a:xfrm>
            <a:prstGeom prst="line">
              <a:avLst/>
            </a:prstGeom>
            <a:noFill/>
            <a:ln w="27940">
              <a:solidFill>
                <a:srgbClr val="FFFFFF"/>
              </a:solidFill>
              <a:prstDash val="solid"/>
            </a:ln>
          </p:spPr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12FA8B5-BB54-F419-5976-B634E4AEC2EF}"/>
              </a:ext>
            </a:extLst>
          </p:cNvPr>
          <p:cNvGrpSpPr/>
          <p:nvPr/>
        </p:nvGrpSpPr>
        <p:grpSpPr>
          <a:xfrm>
            <a:off x="10837799" y="1255836"/>
            <a:ext cx="365760" cy="365760"/>
            <a:chOff x="10780776" y="1545336"/>
            <a:chExt cx="365760" cy="365760"/>
          </a:xfrm>
        </p:grpSpPr>
        <p:sp>
          <p:nvSpPr>
            <p:cNvPr id="41" name="Shape 63">
              <a:extLst>
                <a:ext uri="{FF2B5EF4-FFF2-40B4-BE49-F238E27FC236}">
                  <a16:creationId xmlns:a16="http://schemas.microsoft.com/office/drawing/2014/main" id="{9E6825E3-DE72-DB50-75F1-0D99C7D99EC5}"/>
                </a:ext>
              </a:extLst>
            </p:cNvPr>
            <p:cNvSpPr/>
            <p:nvPr/>
          </p:nvSpPr>
          <p:spPr>
            <a:xfrm>
              <a:off x="10780776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45" name="Text 64">
              <a:extLst>
                <a:ext uri="{FF2B5EF4-FFF2-40B4-BE49-F238E27FC236}">
                  <a16:creationId xmlns:a16="http://schemas.microsoft.com/office/drawing/2014/main" id="{C1723FAC-6E90-CDC6-73E5-403C8C717A6C}"/>
                </a:ext>
              </a:extLst>
            </p:cNvPr>
            <p:cNvSpPr/>
            <p:nvPr/>
          </p:nvSpPr>
          <p:spPr>
            <a:xfrm>
              <a:off x="10780776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</a:t>
              </a:r>
              <a:endParaRPr lang="en-US" sz="16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570E524-32C2-5E84-8271-CB07269C6874}"/>
              </a:ext>
            </a:extLst>
          </p:cNvPr>
          <p:cNvGrpSpPr/>
          <p:nvPr/>
        </p:nvGrpSpPr>
        <p:grpSpPr>
          <a:xfrm>
            <a:off x="14239688" y="1255836"/>
            <a:ext cx="365760" cy="365760"/>
            <a:chOff x="14054328" y="1545336"/>
            <a:chExt cx="365760" cy="365760"/>
          </a:xfrm>
        </p:grpSpPr>
        <p:sp>
          <p:nvSpPr>
            <p:cNvPr id="37" name="Shape 80">
              <a:extLst>
                <a:ext uri="{FF2B5EF4-FFF2-40B4-BE49-F238E27FC236}">
                  <a16:creationId xmlns:a16="http://schemas.microsoft.com/office/drawing/2014/main" id="{D7A1CC6B-D39A-13D6-E546-86CD2DBD551C}"/>
                </a:ext>
              </a:extLst>
            </p:cNvPr>
            <p:cNvSpPr/>
            <p:nvPr/>
          </p:nvSpPr>
          <p:spPr>
            <a:xfrm>
              <a:off x="14054328" y="1545336"/>
              <a:ext cx="365760" cy="365760"/>
            </a:xfrm>
            <a:prstGeom prst="ellipse">
              <a:avLst/>
            </a:prstGeom>
            <a:solidFill>
              <a:srgbClr val="3E8A96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38" name="Shape 81">
              <a:extLst>
                <a:ext uri="{FF2B5EF4-FFF2-40B4-BE49-F238E27FC236}">
                  <a16:creationId xmlns:a16="http://schemas.microsoft.com/office/drawing/2014/main" id="{00E12A65-55A4-4DC4-F755-5FBB4488F4E9}"/>
                </a:ext>
              </a:extLst>
            </p:cNvPr>
            <p:cNvSpPr/>
            <p:nvPr/>
          </p:nvSpPr>
          <p:spPr>
            <a:xfrm>
              <a:off x="14131138" y="1633118"/>
              <a:ext cx="212141" cy="182441"/>
            </a:xfrm>
            <a:prstGeom prst="triangle">
              <a:avLst/>
            </a:prstGeom>
            <a:solidFill>
              <a:srgbClr val="FFFFFF"/>
            </a:solidFill>
            <a:ln/>
          </p:spPr>
        </p:sp>
        <p:sp>
          <p:nvSpPr>
            <p:cNvPr id="39" name="Shape 82">
              <a:extLst>
                <a:ext uri="{FF2B5EF4-FFF2-40B4-BE49-F238E27FC236}">
                  <a16:creationId xmlns:a16="http://schemas.microsoft.com/office/drawing/2014/main" id="{37B662A6-A479-3EFA-C717-65C0BB31FEAE}"/>
                </a:ext>
              </a:extLst>
            </p:cNvPr>
            <p:cNvSpPr/>
            <p:nvPr/>
          </p:nvSpPr>
          <p:spPr>
            <a:xfrm>
              <a:off x="14226601" y="1685788"/>
              <a:ext cx="21214" cy="63642"/>
            </a:xfrm>
            <a:prstGeom prst="rect">
              <a:avLst/>
            </a:prstGeom>
            <a:solidFill>
              <a:srgbClr val="3E8A96"/>
            </a:solidFill>
            <a:ln/>
          </p:spPr>
        </p:sp>
        <p:sp>
          <p:nvSpPr>
            <p:cNvPr id="40" name="Shape 83">
              <a:extLst>
                <a:ext uri="{FF2B5EF4-FFF2-40B4-BE49-F238E27FC236}">
                  <a16:creationId xmlns:a16="http://schemas.microsoft.com/office/drawing/2014/main" id="{DB06AEB8-F5E5-65F1-467B-BD8FA3A40EC2}"/>
                </a:ext>
              </a:extLst>
            </p:cNvPr>
            <p:cNvSpPr/>
            <p:nvPr/>
          </p:nvSpPr>
          <p:spPr>
            <a:xfrm>
              <a:off x="14226601" y="1766401"/>
              <a:ext cx="21214" cy="21214"/>
            </a:xfrm>
            <a:prstGeom prst="ellipse">
              <a:avLst/>
            </a:prstGeom>
            <a:solidFill>
              <a:srgbClr val="3E8A96"/>
            </a:solidFill>
            <a:ln/>
          </p:spPr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E30B9A-9511-AAF2-73B1-188FD933B867}"/>
              </a:ext>
            </a:extLst>
          </p:cNvPr>
          <p:cNvGrpSpPr/>
          <p:nvPr/>
        </p:nvGrpSpPr>
        <p:grpSpPr>
          <a:xfrm>
            <a:off x="17641575" y="1255836"/>
            <a:ext cx="365760" cy="365760"/>
            <a:chOff x="17327880" y="1545336"/>
            <a:chExt cx="365760" cy="365760"/>
          </a:xfrm>
        </p:grpSpPr>
        <p:sp>
          <p:nvSpPr>
            <p:cNvPr id="35" name="Shape 99">
              <a:extLst>
                <a:ext uri="{FF2B5EF4-FFF2-40B4-BE49-F238E27FC236}">
                  <a16:creationId xmlns:a16="http://schemas.microsoft.com/office/drawing/2014/main" id="{CB142CB1-E69F-8085-9436-30932A603879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ellipse">
              <a:avLst/>
            </a:prstGeom>
            <a:solidFill>
              <a:srgbClr val="14324A"/>
            </a:solidFill>
            <a:ln/>
            <a:effectLst>
              <a:outerShdw blurRad="88900" dist="25400" dir="5400000" algn="bl" rotWithShape="0">
                <a:srgbClr val="0D2233">
                  <a:alpha val="10000"/>
                </a:srgbClr>
              </a:outerShdw>
            </a:effectLst>
          </p:spPr>
        </p:sp>
        <p:sp>
          <p:nvSpPr>
            <p:cNvPr id="36" name="Text 100">
              <a:extLst>
                <a:ext uri="{FF2B5EF4-FFF2-40B4-BE49-F238E27FC236}">
                  <a16:creationId xmlns:a16="http://schemas.microsoft.com/office/drawing/2014/main" id="{92A6CFAB-A1B3-78B0-B696-27BBFCB5D99A}"/>
                </a:ext>
              </a:extLst>
            </p:cNvPr>
            <p:cNvSpPr/>
            <p:nvPr/>
          </p:nvSpPr>
          <p:spPr>
            <a:xfrm>
              <a:off x="17327880" y="154533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</a:t>
              </a:r>
              <a:endParaRPr lang="en-US" sz="1600" dirty="0"/>
            </a:p>
          </p:txBody>
        </p:sp>
      </p:grpSp>
      <p:sp>
        <p:nvSpPr>
          <p:cNvPr id="64" name="Shape 146">
            <a:extLst>
              <a:ext uri="{FF2B5EF4-FFF2-40B4-BE49-F238E27FC236}">
                <a16:creationId xmlns:a16="http://schemas.microsoft.com/office/drawing/2014/main" id="{2848D595-1CEF-C241-9F77-B6F7548C8364}"/>
              </a:ext>
            </a:extLst>
          </p:cNvPr>
          <p:cNvSpPr/>
          <p:nvPr/>
        </p:nvSpPr>
        <p:spPr>
          <a:xfrm>
            <a:off x="8242618" y="3381445"/>
            <a:ext cx="4724224" cy="3797056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</p:sp>
      <p:sp>
        <p:nvSpPr>
          <p:cNvPr id="67" name="Text 154">
            <a:extLst>
              <a:ext uri="{FF2B5EF4-FFF2-40B4-BE49-F238E27FC236}">
                <a16:creationId xmlns:a16="http://schemas.microsoft.com/office/drawing/2014/main" id="{F015AD17-9A65-5424-E87E-60C7886DBF75}"/>
              </a:ext>
            </a:extLst>
          </p:cNvPr>
          <p:cNvSpPr/>
          <p:nvPr/>
        </p:nvSpPr>
        <p:spPr>
          <a:xfrm>
            <a:off x="8377326" y="3490207"/>
            <a:ext cx="45895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Avg. Delay Hours by Carrier</a:t>
            </a:r>
          </a:p>
        </p:txBody>
      </p:sp>
      <p:sp>
        <p:nvSpPr>
          <p:cNvPr id="72" name="Text 154">
            <a:extLst>
              <a:ext uri="{FF2B5EF4-FFF2-40B4-BE49-F238E27FC236}">
                <a16:creationId xmlns:a16="http://schemas.microsoft.com/office/drawing/2014/main" id="{0998EE94-DA1A-E53C-DF84-073E039775BE}"/>
              </a:ext>
            </a:extLst>
          </p:cNvPr>
          <p:cNvSpPr/>
          <p:nvPr/>
        </p:nvSpPr>
        <p:spPr>
          <a:xfrm>
            <a:off x="13374437" y="3490207"/>
            <a:ext cx="45895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Warehouse Utilization by Region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AEB962FD-B57D-6E5F-BC38-19040E4EE25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564578" y="468403"/>
            <a:ext cx="425933" cy="425933"/>
          </a:xfrm>
          <a:prstGeom prst="rect">
            <a:avLst/>
          </a:prstGeom>
        </p:spPr>
      </p:pic>
      <p:sp>
        <p:nvSpPr>
          <p:cNvPr id="2" name="Shape 146">
            <a:extLst>
              <a:ext uri="{FF2B5EF4-FFF2-40B4-BE49-F238E27FC236}">
                <a16:creationId xmlns:a16="http://schemas.microsoft.com/office/drawing/2014/main" id="{BF723E6D-074E-F8BB-26C3-B0DADCC7E89B}"/>
              </a:ext>
            </a:extLst>
          </p:cNvPr>
          <p:cNvSpPr/>
          <p:nvPr/>
        </p:nvSpPr>
        <p:spPr>
          <a:xfrm>
            <a:off x="13111240" y="7006490"/>
            <a:ext cx="4943273" cy="3124800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139700" dist="44450" dir="5400000" algn="bl" rotWithShape="0">
              <a:srgbClr val="0D2233">
                <a:alpha val="14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" name="Text 154">
            <a:extLst>
              <a:ext uri="{FF2B5EF4-FFF2-40B4-BE49-F238E27FC236}">
                <a16:creationId xmlns:a16="http://schemas.microsoft.com/office/drawing/2014/main" id="{8C143CC5-85E8-F636-A575-70C39A15499C}"/>
              </a:ext>
            </a:extLst>
          </p:cNvPr>
          <p:cNvSpPr/>
          <p:nvPr/>
        </p:nvSpPr>
        <p:spPr>
          <a:xfrm>
            <a:off x="13368507" y="7072188"/>
            <a:ext cx="45895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b="1" dirty="0"/>
              <a:t>Damage by Region</a:t>
            </a:r>
          </a:p>
        </p:txBody>
      </p:sp>
    </p:spTree>
    <p:extLst>
      <p:ext uri="{BB962C8B-B14F-4D97-AF65-F5344CB8AC3E}">
        <p14:creationId xmlns:p14="http://schemas.microsoft.com/office/powerpoint/2010/main" val="4212407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4012</TotalTime>
  <Words>329</Words>
  <Application>Microsoft Office PowerPoint</Application>
  <PresentationFormat>Custom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6</cp:revision>
  <dcterms:created xsi:type="dcterms:W3CDTF">2026-08-17T11:38:13Z</dcterms:created>
  <dcterms:modified xsi:type="dcterms:W3CDTF">2026-08-22T07:01:34Z</dcterms:modified>
</cp:coreProperties>
</file>